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no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48" name="Shape 148"/>
          <p:cNvSpPr/>
          <p:nvPr>
            <p:ph type="sldImg"/>
          </p:nvPr>
        </p:nvSpPr>
        <p:spPr>
          <a:xfrm>
            <a:off x="1143000" y="685800"/>
            <a:ext cx="4572000" cy="3429000"/>
          </a:xfrm>
          <a:prstGeom prst="rect">
            <a:avLst/>
          </a:prstGeom>
        </p:spPr>
        <p:txBody>
          <a:bodyPr/>
          <a:lstStyle/>
          <a:p>
            <a:pPr/>
          </a:p>
        </p:txBody>
      </p:sp>
      <p:sp>
        <p:nvSpPr>
          <p:cNvPr id="149" name="Shape 14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bg>
      <p:bgPr>
        <a:solidFill>
          <a:srgbClr val="003462"/>
        </a:solidFill>
      </p:bgPr>
    </p:bg>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47162"/>
            <a:ext cx="21971003" cy="636979"/>
          </a:xfrm>
          <a:prstGeom prst="rect">
            <a:avLst/>
          </a:prstGeom>
        </p:spPr>
        <p:txBody>
          <a:bodyPr lIns="45719" tIns="45719" rIns="45719" bIns="45719"/>
          <a:lstStyle>
            <a:lvl1pPr marL="0" indent="0" defTabSz="825500">
              <a:lnSpc>
                <a:spcPct val="100000"/>
              </a:lnSpc>
              <a:spcBef>
                <a:spcPts val="0"/>
              </a:spcBef>
              <a:buSzTx/>
              <a:buNone/>
              <a:defRPr b="1" sz="3600">
                <a:solidFill>
                  <a:srgbClr val="FFFFFF"/>
                </a:solidFill>
              </a:defRPr>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solidFill>
                  <a:srgbClr val="FFFFFF"/>
                </a:solidFill>
              </a:defRPr>
            </a:lvl1pPr>
          </a:lstStyle>
          <a:p>
            <a:pPr/>
            <a:r>
              <a:t>Presentation Title</a:t>
            </a:r>
          </a:p>
        </p:txBody>
      </p:sp>
      <p:sp>
        <p:nvSpPr>
          <p:cNvPr id="13" name="Body Level One…"/>
          <p:cNvSpPr txBox="1"/>
          <p:nvPr>
            <p:ph type="body" sz="quarter" idx="1" hasCustomPrompt="1"/>
          </p:nvPr>
        </p:nvSpPr>
        <p:spPr>
          <a:xfrm>
            <a:off x="1201342" y="7210490"/>
            <a:ext cx="21971001" cy="1905001"/>
          </a:xfrm>
          <a:prstGeom prst="rect">
            <a:avLst/>
          </a:prstGeom>
        </p:spPr>
        <p:txBody>
          <a:bodyPr/>
          <a:lstStyle>
            <a:lvl1pPr marL="0" indent="0" defTabSz="825500">
              <a:lnSpc>
                <a:spcPct val="100000"/>
              </a:lnSpc>
              <a:spcBef>
                <a:spcPts val="0"/>
              </a:spcBef>
              <a:buSzTx/>
              <a:buNone/>
              <a:defRPr b="1" sz="5500">
                <a:solidFill>
                  <a:schemeClr val="accent1"/>
                </a:solidFill>
              </a:defRPr>
            </a:lvl1pPr>
            <a:lvl2pPr marL="0" indent="457200" defTabSz="825500">
              <a:lnSpc>
                <a:spcPct val="100000"/>
              </a:lnSpc>
              <a:spcBef>
                <a:spcPts val="0"/>
              </a:spcBef>
              <a:buSzTx/>
              <a:buNone/>
              <a:defRPr b="1" sz="5500">
                <a:solidFill>
                  <a:schemeClr val="accent1"/>
                </a:solidFill>
              </a:defRPr>
            </a:lvl2pPr>
            <a:lvl3pPr marL="0" indent="914400" defTabSz="825500">
              <a:lnSpc>
                <a:spcPct val="100000"/>
              </a:lnSpc>
              <a:spcBef>
                <a:spcPts val="0"/>
              </a:spcBef>
              <a:buSzTx/>
              <a:buNone/>
              <a:defRPr b="1" sz="5500">
                <a:solidFill>
                  <a:schemeClr val="accent1"/>
                </a:solidFill>
              </a:defRPr>
            </a:lvl3pPr>
            <a:lvl4pPr marL="0" indent="1371600" defTabSz="825500">
              <a:lnSpc>
                <a:spcPct val="100000"/>
              </a:lnSpc>
              <a:spcBef>
                <a:spcPts val="0"/>
              </a:spcBef>
              <a:buSzTx/>
              <a:buNone/>
              <a:defRPr b="1" sz="5500">
                <a:solidFill>
                  <a:schemeClr val="accent1"/>
                </a:solidFill>
              </a:defRPr>
            </a:lvl4pPr>
            <a:lvl5pPr marL="0" indent="1828800" defTabSz="825500">
              <a:lnSpc>
                <a:spcPct val="100000"/>
              </a:lnSpc>
              <a:spcBef>
                <a:spcPts val="0"/>
              </a:spcBef>
              <a:buSzTx/>
              <a:buNone/>
              <a:defRPr b="1" sz="5500">
                <a:solidFill>
                  <a:schemeClr val="accent1"/>
                </a:solidFill>
              </a:defRPr>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740627569_2880x1920.jpg"/>
          <p:cNvSpPr/>
          <p:nvPr>
            <p:ph type="pic" idx="21"/>
          </p:nvPr>
        </p:nvSpPr>
        <p:spPr>
          <a:xfrm>
            <a:off x="0" y="-1270000"/>
            <a:ext cx="24384000" cy="16256000"/>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solidFill>
                  <a:srgbClr val="FFFFFF"/>
                </a:solidFill>
              </a:defRPr>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solidFill>
                  <a:srgbClr val="FFFFFF"/>
                </a:solidFill>
              </a:defRPr>
            </a:lvl1pPr>
            <a:lvl2pPr marL="0" indent="457200" defTabSz="825500">
              <a:lnSpc>
                <a:spcPct val="100000"/>
              </a:lnSpc>
              <a:spcBef>
                <a:spcPts val="0"/>
              </a:spcBef>
              <a:buSzTx/>
              <a:buNone/>
              <a:defRPr b="1" sz="5500">
                <a:solidFill>
                  <a:srgbClr val="FFFFFF"/>
                </a:solidFill>
              </a:defRPr>
            </a:lvl2pPr>
            <a:lvl3pPr marL="0" indent="914400" defTabSz="825500">
              <a:lnSpc>
                <a:spcPct val="100000"/>
              </a:lnSpc>
              <a:spcBef>
                <a:spcPts val="0"/>
              </a:spcBef>
              <a:buSzTx/>
              <a:buNone/>
              <a:defRPr b="1" sz="5500">
                <a:solidFill>
                  <a:srgbClr val="FFFFFF"/>
                </a:solidFill>
              </a:defRPr>
            </a:lvl3pPr>
            <a:lvl4pPr marL="0" indent="1371600" defTabSz="825500">
              <a:lnSpc>
                <a:spcPct val="100000"/>
              </a:lnSpc>
              <a:spcBef>
                <a:spcPts val="0"/>
              </a:spcBef>
              <a:buSzTx/>
              <a:buNone/>
              <a:defRPr b="1" sz="5500">
                <a:solidFill>
                  <a:srgbClr val="FFFFFF"/>
                </a:solidFill>
              </a:defRPr>
            </a:lvl4pPr>
            <a:lvl5pPr marL="0" indent="1828800" defTabSz="825500">
              <a:lnSpc>
                <a:spcPct val="100000"/>
              </a:lnSpc>
              <a:spcBef>
                <a:spcPts val="0"/>
              </a:spcBef>
              <a:buSzTx/>
              <a:buNone/>
              <a:defRPr b="1" sz="5500">
                <a:solidFill>
                  <a:srgbClr val="FFFFFF"/>
                </a:solidFill>
              </a:defRPr>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136959463_1989x1321.jpg"/>
          <p:cNvSpPr/>
          <p:nvPr>
            <p:ph type="pic" idx="21"/>
          </p:nvPr>
        </p:nvSpPr>
        <p:spPr>
          <a:xfrm>
            <a:off x="9226574" y="1270000"/>
            <a:ext cx="16840152" cy="11184435"/>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245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247900"/>
            <a:ext cx="9779000" cy="934779"/>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617931575_1991x1322.jpg"/>
          <p:cNvSpPr/>
          <p:nvPr>
            <p:ph type="pic" idx="22"/>
          </p:nvPr>
        </p:nvSpPr>
        <p:spPr>
          <a:xfrm>
            <a:off x="8432800" y="1263848"/>
            <a:ext cx="16850011" cy="11188205"/>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952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bg>
      <p:bgPr>
        <a:solidFill>
          <a:srgbClr val="003462"/>
        </a:solidFill>
      </p:bgPr>
    </p:bg>
    <p:spTree>
      <p:nvGrpSpPr>
        <p:cNvPr id="1" name=""/>
        <p:cNvGrpSpPr/>
        <p:nvPr/>
      </p:nvGrpSpPr>
      <p:grpSpPr>
        <a:xfrm>
          <a:off x="0" y="0"/>
          <a:ext cx="0" cy="0"/>
          <a:chOff x="0" y="0"/>
          <a:chExt cx="0" cy="0"/>
        </a:xfrm>
      </p:grpSpPr>
      <p:sp>
        <p:nvSpPr>
          <p:cNvPr id="71" name="Section Title"/>
          <p:cNvSpPr txBox="1"/>
          <p:nvPr>
            <p:ph type="title" hasCustomPrompt="1"/>
          </p:nvPr>
        </p:nvSpPr>
        <p:spPr>
          <a:xfrm>
            <a:off x="1206496" y="4533900"/>
            <a:ext cx="21971004" cy="4648200"/>
          </a:xfrm>
          <a:prstGeom prst="rect">
            <a:avLst/>
          </a:prstGeom>
        </p:spPr>
        <p:txBody>
          <a:bodyPr anchor="ctr"/>
          <a:lstStyle>
            <a:lvl1pPr>
              <a:defRPr b="0" spc="-232" sz="11600">
                <a:solidFill>
                  <a:srgbClr val="FFFFFF"/>
                </a:solidFill>
                <a:latin typeface="Helvetica Neue Medium"/>
                <a:ea typeface="Helvetica Neue Medium"/>
                <a:cs typeface="Helvetica Neue Medium"/>
                <a:sym typeface="Helvetica Neue Medium"/>
              </a:defRPr>
            </a:lvl1pPr>
          </a:lstStyle>
          <a:p>
            <a:pPr/>
            <a:r>
              <a:t>Section Title</a:t>
            </a:r>
          </a:p>
        </p:txBody>
      </p:sp>
      <p:sp>
        <p:nvSpPr>
          <p:cNvPr id="72" name="Slide Number"/>
          <p:cNvSpPr txBox="1"/>
          <p:nvPr>
            <p:ph type="sldNum" sz="quarter" idx="2"/>
          </p:nvPr>
        </p:nvSpPr>
        <p:spPr>
          <a:xfrm>
            <a:off x="12001499" y="13085233"/>
            <a:ext cx="368505" cy="374600"/>
          </a:xfrm>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79" name="Slide Title"/>
          <p:cNvSpPr txBox="1"/>
          <p:nvPr>
            <p:ph type="title" hasCustomPrompt="1"/>
          </p:nvPr>
        </p:nvSpPr>
        <p:spPr>
          <a:xfrm>
            <a:off x="1206500" y="952500"/>
            <a:ext cx="21971000" cy="1434949"/>
          </a:xfrm>
          <a:prstGeom prst="rect">
            <a:avLst/>
          </a:prstGeom>
        </p:spPr>
        <p:txBody>
          <a:bodyPr/>
          <a:lstStyle/>
          <a:p>
            <a:pPr/>
            <a:r>
              <a:t>Slide Title</a:t>
            </a:r>
          </a:p>
        </p:txBody>
      </p:sp>
      <p:sp>
        <p:nvSpPr>
          <p:cNvPr id="80" name="Slide Subtitle"/>
          <p:cNvSpPr txBox="1"/>
          <p:nvPr>
            <p:ph type="body" sz="quarter" idx="21" hasCustomPrompt="1"/>
          </p:nvPr>
        </p:nvSpPr>
        <p:spPr>
          <a:xfrm>
            <a:off x="1206500" y="2247900"/>
            <a:ext cx="21971000" cy="934779"/>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88" name="Agenda Title"/>
          <p:cNvSpPr txBox="1"/>
          <p:nvPr>
            <p:ph type="title" hasCustomPrompt="1"/>
          </p:nvPr>
        </p:nvSpPr>
        <p:spPr>
          <a:xfrm>
            <a:off x="1206500" y="952500"/>
            <a:ext cx="21971000" cy="1435100"/>
          </a:xfrm>
          <a:prstGeom prst="rect">
            <a:avLst/>
          </a:prstGeom>
        </p:spPr>
        <p:txBody>
          <a:bodyPr/>
          <a:lstStyle/>
          <a:p>
            <a:pPr/>
            <a:r>
              <a:t>Agenda Title</a:t>
            </a:r>
          </a:p>
        </p:txBody>
      </p:sp>
      <p:sp>
        <p:nvSpPr>
          <p:cNvPr id="89" name="Agenda Subtitle"/>
          <p:cNvSpPr txBox="1"/>
          <p:nvPr>
            <p:ph type="body" sz="quarter" idx="21" hasCustomPrompt="1"/>
          </p:nvPr>
        </p:nvSpPr>
        <p:spPr>
          <a:xfrm>
            <a:off x="1206500" y="2247900"/>
            <a:ext cx="21971000" cy="934779"/>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9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9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9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solidFill>
                  <a:schemeClr val="accent1">
                    <a:hueOff val="114395"/>
                    <a:lumOff val="-24975"/>
                  </a:schemeClr>
                </a:solidFill>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solidFill>
                  <a:schemeClr val="accent1">
                    <a:hueOff val="114395"/>
                    <a:lumOff val="-24975"/>
                  </a:schemeClr>
                </a:solidFill>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solidFill>
                  <a:schemeClr val="accent1">
                    <a:hueOff val="114395"/>
                    <a:lumOff val="-24975"/>
                  </a:schemeClr>
                </a:solidFill>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solidFill>
                  <a:schemeClr val="accent1">
                    <a:hueOff val="114395"/>
                    <a:lumOff val="-24975"/>
                  </a:schemeClr>
                </a:solidFill>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solidFill>
                  <a:schemeClr val="accent1">
                    <a:hueOff val="114395"/>
                    <a:lumOff val="-24975"/>
                  </a:schemeClr>
                </a:solidFill>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9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0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solidFill>
                  <a:schemeClr val="accent1">
                    <a:hueOff val="114395"/>
                    <a:lumOff val="-24975"/>
                  </a:schemeClr>
                </a:solidFill>
              </a:defRPr>
            </a:lvl1pPr>
            <a:lvl2pPr marL="0" indent="457200" algn="ctr">
              <a:lnSpc>
                <a:spcPct val="80000"/>
              </a:lnSpc>
              <a:spcBef>
                <a:spcPts val="0"/>
              </a:spcBef>
              <a:buSzTx/>
              <a:buNone/>
              <a:defRPr b="1" spc="-250" sz="25000">
                <a:solidFill>
                  <a:schemeClr val="accent1">
                    <a:hueOff val="114395"/>
                    <a:lumOff val="-24975"/>
                  </a:schemeClr>
                </a:solidFill>
              </a:defRPr>
            </a:lvl2pPr>
            <a:lvl3pPr marL="0" indent="914400" algn="ctr">
              <a:lnSpc>
                <a:spcPct val="80000"/>
              </a:lnSpc>
              <a:spcBef>
                <a:spcPts val="0"/>
              </a:spcBef>
              <a:buSzTx/>
              <a:buNone/>
              <a:defRPr b="1" spc="-250" sz="25000">
                <a:solidFill>
                  <a:schemeClr val="accent1">
                    <a:hueOff val="114395"/>
                    <a:lumOff val="-24975"/>
                  </a:schemeClr>
                </a:solidFill>
              </a:defRPr>
            </a:lvl3pPr>
            <a:lvl4pPr marL="0" indent="1371600" algn="ctr">
              <a:lnSpc>
                <a:spcPct val="80000"/>
              </a:lnSpc>
              <a:spcBef>
                <a:spcPts val="0"/>
              </a:spcBef>
              <a:buSzTx/>
              <a:buNone/>
              <a:defRPr b="1" spc="-250" sz="25000">
                <a:solidFill>
                  <a:schemeClr val="accent1">
                    <a:hueOff val="114395"/>
                    <a:lumOff val="-24975"/>
                  </a:schemeClr>
                </a:solidFill>
              </a:defRPr>
            </a:lvl4pPr>
            <a:lvl5pPr marL="0" indent="1828800" algn="ctr">
              <a:lnSpc>
                <a:spcPct val="80000"/>
              </a:lnSpc>
              <a:spcBef>
                <a:spcPts val="0"/>
              </a:spcBef>
              <a:buSzTx/>
              <a:buNone/>
              <a:defRPr b="1" spc="-250" sz="25000">
                <a:solidFill>
                  <a:schemeClr val="accent1">
                    <a:hueOff val="114395"/>
                    <a:lumOff val="-24975"/>
                  </a:schemeClr>
                </a:solidFill>
              </a:defRPr>
            </a:lvl5pPr>
          </a:lstStyle>
          <a:p>
            <a:pPr/>
            <a:r>
              <a:t>100%</a:t>
            </a:r>
          </a:p>
          <a:p>
            <a:pPr lvl="1"/>
            <a:r>
              <a:t/>
            </a:r>
          </a:p>
          <a:p>
            <a:pPr lvl="2"/>
            <a:r>
              <a:t/>
            </a:r>
          </a:p>
          <a:p>
            <a:pPr lvl="3"/>
            <a:r>
              <a:t/>
            </a:r>
          </a:p>
          <a:p>
            <a:pPr lvl="4"/>
            <a:r>
              <a:t/>
            </a:r>
          </a:p>
        </p:txBody>
      </p:sp>
      <p:sp>
        <p:nvSpPr>
          <p:cNvPr id="10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0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15" name="Attribution"/>
          <p:cNvSpPr txBox="1"/>
          <p:nvPr>
            <p:ph type="body" sz="quarter" idx="21" hasCustomPrompt="1"/>
          </p:nvPr>
        </p:nvSpPr>
        <p:spPr>
          <a:xfrm>
            <a:off x="2480825" y="10675453"/>
            <a:ext cx="201492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1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solidFill>
                  <a:schemeClr val="accent1">
                    <a:hueOff val="114395"/>
                    <a:lumOff val="-24975"/>
                  </a:schemeClr>
                </a:solidFill>
                <a:latin typeface="Helvetica Neue Medium"/>
                <a:ea typeface="Helvetica Neue Medium"/>
                <a:cs typeface="Helvetica Neue Medium"/>
                <a:sym typeface="Helvetica Neue Medium"/>
              </a:defRPr>
            </a:lvl1pPr>
            <a:lvl2pPr marL="638923" indent="-12700">
              <a:spcBef>
                <a:spcPts val="0"/>
              </a:spcBef>
              <a:buSzTx/>
              <a:buNone/>
              <a:defRPr spc="-170" sz="8500">
                <a:solidFill>
                  <a:schemeClr val="accent1">
                    <a:hueOff val="114395"/>
                    <a:lumOff val="-24975"/>
                  </a:schemeClr>
                </a:solidFill>
                <a:latin typeface="Helvetica Neue Medium"/>
                <a:ea typeface="Helvetica Neue Medium"/>
                <a:cs typeface="Helvetica Neue Medium"/>
                <a:sym typeface="Helvetica Neue Medium"/>
              </a:defRPr>
            </a:lvl2pPr>
            <a:lvl3pPr marL="638923" indent="444500">
              <a:spcBef>
                <a:spcPts val="0"/>
              </a:spcBef>
              <a:buSzTx/>
              <a:buNone/>
              <a:defRPr spc="-170" sz="8500">
                <a:solidFill>
                  <a:schemeClr val="accent1">
                    <a:hueOff val="114395"/>
                    <a:lumOff val="-24975"/>
                  </a:schemeClr>
                </a:solidFill>
                <a:latin typeface="Helvetica Neue Medium"/>
                <a:ea typeface="Helvetica Neue Medium"/>
                <a:cs typeface="Helvetica Neue Medium"/>
                <a:sym typeface="Helvetica Neue Medium"/>
              </a:defRPr>
            </a:lvl3pPr>
            <a:lvl4pPr marL="638923" indent="901700">
              <a:spcBef>
                <a:spcPts val="0"/>
              </a:spcBef>
              <a:buSzTx/>
              <a:buNone/>
              <a:defRPr spc="-170" sz="8500">
                <a:solidFill>
                  <a:schemeClr val="accent1">
                    <a:hueOff val="114395"/>
                    <a:lumOff val="-24975"/>
                  </a:schemeClr>
                </a:solidFill>
                <a:latin typeface="Helvetica Neue Medium"/>
                <a:ea typeface="Helvetica Neue Medium"/>
                <a:cs typeface="Helvetica Neue Medium"/>
                <a:sym typeface="Helvetica Neue Medium"/>
              </a:defRPr>
            </a:lvl4pPr>
            <a:lvl5pPr marL="638923" indent="1358900">
              <a:spcBef>
                <a:spcPts val="0"/>
              </a:spcBef>
              <a:buSzTx/>
              <a:buNone/>
              <a:defRPr spc="-170" sz="8500">
                <a:solidFill>
                  <a:schemeClr val="accent1">
                    <a:hueOff val="114395"/>
                    <a:lumOff val="-24975"/>
                  </a:schemeClr>
                </a:solidFill>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1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24" name="617931575_1991x1322.jpg"/>
          <p:cNvSpPr/>
          <p:nvPr>
            <p:ph type="pic" sz="quarter" idx="21"/>
          </p:nvPr>
        </p:nvSpPr>
        <p:spPr>
          <a:xfrm>
            <a:off x="15436504" y="1270000"/>
            <a:ext cx="8167167" cy="5422900"/>
          </a:xfrm>
          <a:prstGeom prst="rect">
            <a:avLst/>
          </a:prstGeom>
        </p:spPr>
        <p:txBody>
          <a:bodyPr lIns="91439" tIns="45719" rIns="91439" bIns="45719">
            <a:noAutofit/>
          </a:bodyPr>
          <a:lstStyle/>
          <a:p>
            <a:pPr/>
          </a:p>
        </p:txBody>
      </p:sp>
      <p:sp>
        <p:nvSpPr>
          <p:cNvPr id="125" name="740627569_2880x1920.jpg"/>
          <p:cNvSpPr/>
          <p:nvPr>
            <p:ph type="pic" sz="quarter" idx="22"/>
          </p:nvPr>
        </p:nvSpPr>
        <p:spPr>
          <a:xfrm>
            <a:off x="15461772" y="7085972"/>
            <a:ext cx="8148414" cy="5432276"/>
          </a:xfrm>
          <a:prstGeom prst="rect">
            <a:avLst/>
          </a:prstGeom>
        </p:spPr>
        <p:txBody>
          <a:bodyPr lIns="91439" tIns="45719" rIns="91439" bIns="45719">
            <a:noAutofit/>
          </a:bodyPr>
          <a:lstStyle/>
          <a:p>
            <a:pPr/>
          </a:p>
        </p:txBody>
      </p:sp>
      <p:sp>
        <p:nvSpPr>
          <p:cNvPr id="126" name="996267730_2880x1920.jpg"/>
          <p:cNvSpPr/>
          <p:nvPr>
            <p:ph type="pic" idx="23"/>
          </p:nvPr>
        </p:nvSpPr>
        <p:spPr>
          <a:xfrm>
            <a:off x="-124635" y="1270000"/>
            <a:ext cx="16859219" cy="11239479"/>
          </a:xfrm>
          <a:prstGeom prst="rect">
            <a:avLst/>
          </a:prstGeom>
        </p:spPr>
        <p:txBody>
          <a:bodyPr lIns="91439" tIns="45719" rIns="91439" bIns="45719">
            <a:noAutofit/>
          </a:bodyPr>
          <a:lstStyle/>
          <a:p>
            <a:pPr/>
          </a:p>
        </p:txBody>
      </p:sp>
      <p:sp>
        <p:nvSpPr>
          <p:cNvPr id="12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34" name="996267730_2880x1920.jpg"/>
          <p:cNvSpPr/>
          <p:nvPr>
            <p:ph type="pic" idx="21"/>
          </p:nvPr>
        </p:nvSpPr>
        <p:spPr>
          <a:xfrm>
            <a:off x="0" y="-1270000"/>
            <a:ext cx="24384000" cy="16256000"/>
          </a:xfrm>
          <a:prstGeom prst="rect">
            <a:avLst/>
          </a:prstGeom>
        </p:spPr>
        <p:txBody>
          <a:bodyPr lIns="91439" tIns="45719" rIns="91439" bIns="45719">
            <a:noAutofit/>
          </a:bodyPr>
          <a:lstStyle/>
          <a:p>
            <a:pPr/>
          </a:p>
        </p:txBody>
      </p:sp>
      <p:sp>
        <p:nvSpPr>
          <p:cNvPr id="13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4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952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defTabSz="584200">
              <a:defRPr sz="1800">
                <a:solidFill>
                  <a:srgbClr val="000000"/>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chemeClr val="accent1">
              <a:hueOff val="114395"/>
              <a:lumOff val="-24975"/>
            </a:schemeClr>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chemeClr val="accent1">
              <a:hueOff val="114395"/>
              <a:lumOff val="-24975"/>
            </a:schemeClr>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chemeClr val="accent1">
              <a:hueOff val="114395"/>
              <a:lumOff val="-24975"/>
            </a:schemeClr>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chemeClr val="accent1">
              <a:hueOff val="114395"/>
              <a:lumOff val="-24975"/>
            </a:schemeClr>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chemeClr val="accent1">
              <a:hueOff val="114395"/>
              <a:lumOff val="-24975"/>
            </a:schemeClr>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chemeClr val="accent1">
              <a:hueOff val="114395"/>
              <a:lumOff val="-24975"/>
            </a:schemeClr>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chemeClr val="accent1">
              <a:hueOff val="114395"/>
              <a:lumOff val="-24975"/>
            </a:schemeClr>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chemeClr val="accent1">
              <a:hueOff val="114395"/>
              <a:lumOff val="-24975"/>
            </a:schemeClr>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chemeClr val="accent1">
              <a:hueOff val="114395"/>
              <a:lumOff val="-24975"/>
            </a:schemeClr>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en.wikipedia.org/wiki/Centrality" TargetMode="External"/></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semanticscholar.org/paper/Discovering-Sets-of-Key-Players-in-Social-Networks-Arroyo/a95793d5ce8e5370f1ef1c1b3d4c66cb02cfea39" TargetMode="External"/><Relationship Id="rId3" Type="http://schemas.openxmlformats.org/officeDocument/2006/relationships/image" Target="../media/image1.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en.wikipedia.org/wiki/Edsger_W._Dijkstra" TargetMode="External"/><Relationship Id="rId3" Type="http://schemas.openxmlformats.org/officeDocument/2006/relationships/image" Target="../media/image3.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s>

</file>

<file path=ppt/slides/_rels/slide16.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Author and Date"/>
          <p:cNvSpPr txBox="1"/>
          <p:nvPr>
            <p:ph type="body" idx="21"/>
          </p:nvPr>
        </p:nvSpPr>
        <p:spPr>
          <a:prstGeom prst="rect">
            <a:avLst/>
          </a:prstGeom>
        </p:spPr>
        <p:txBody>
          <a:bodyPr/>
          <a:lstStyle/>
          <a:p>
            <a:pPr/>
          </a:p>
        </p:txBody>
      </p:sp>
      <p:sp>
        <p:nvSpPr>
          <p:cNvPr id="152" name="Quick Introduction of Network Analysis"/>
          <p:cNvSpPr txBox="1"/>
          <p:nvPr>
            <p:ph type="ctrTitle"/>
          </p:nvPr>
        </p:nvSpPr>
        <p:spPr>
          <a:prstGeom prst="rect">
            <a:avLst/>
          </a:prstGeom>
        </p:spPr>
        <p:txBody>
          <a:bodyPr/>
          <a:lstStyle/>
          <a:p>
            <a:pPr/>
            <a:r>
              <a:t>Quick Introduction of Network Analysis </a:t>
            </a:r>
          </a:p>
        </p:txBody>
      </p:sp>
      <p:sp>
        <p:nvSpPr>
          <p:cNvPr id="153" name="Presentation Subtitle"/>
          <p:cNvSpPr txBox="1"/>
          <p:nvPr>
            <p:ph type="subTitle" sz="quarter" idx="1"/>
          </p:nvPr>
        </p:nvSpPr>
        <p:spPr>
          <a:prstGeom prst="rect">
            <a:avLst/>
          </a:prstGeom>
        </p:spPr>
        <p:txBody>
          <a:bodyPr/>
          <a:lstStyle/>
          <a:p>
            <a:pP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5" name="Network"/>
          <p:cNvSpPr txBox="1"/>
          <p:nvPr>
            <p:ph type="title"/>
          </p:nvPr>
        </p:nvSpPr>
        <p:spPr>
          <a:prstGeom prst="rect">
            <a:avLst/>
          </a:prstGeom>
        </p:spPr>
        <p:txBody>
          <a:bodyPr/>
          <a:lstStyle/>
          <a:p>
            <a:pPr/>
            <a:r>
              <a:t>Network</a:t>
            </a:r>
          </a:p>
        </p:txBody>
      </p:sp>
      <p:sp>
        <p:nvSpPr>
          <p:cNvPr id="156" name="Slide Subtitle"/>
          <p:cNvSpPr txBox="1"/>
          <p:nvPr>
            <p:ph type="body" idx="21"/>
          </p:nvPr>
        </p:nvSpPr>
        <p:spPr>
          <a:prstGeom prst="rect">
            <a:avLst/>
          </a:prstGeom>
        </p:spPr>
        <p:txBody>
          <a:bodyPr/>
          <a:lstStyle/>
          <a:p>
            <a:pPr/>
          </a:p>
        </p:txBody>
      </p:sp>
      <p:sp>
        <p:nvSpPr>
          <p:cNvPr id="157" name="Motivation…"/>
          <p:cNvSpPr txBox="1"/>
          <p:nvPr>
            <p:ph type="body" idx="1"/>
          </p:nvPr>
        </p:nvSpPr>
        <p:spPr>
          <a:prstGeom prst="rect">
            <a:avLst/>
          </a:prstGeom>
        </p:spPr>
        <p:txBody>
          <a:bodyPr/>
          <a:lstStyle/>
          <a:p>
            <a:pPr/>
            <a:r>
              <a:t>Motivation</a:t>
            </a:r>
          </a:p>
          <a:p>
            <a:pPr/>
            <a:r>
              <a:t>Problem Statements - Project Overview - Swift Routing </a:t>
            </a:r>
          </a:p>
          <a:p>
            <a:pPr/>
            <a:r>
              <a:t>What is a network</a:t>
            </a:r>
          </a:p>
          <a:p>
            <a:pPr lvl="1"/>
            <a:r>
              <a:t>Use cases</a:t>
            </a:r>
          </a:p>
          <a:p>
            <a:pPr lvl="1"/>
            <a:r>
              <a:t>Worked Examples </a:t>
            </a:r>
          </a:p>
          <a:p>
            <a:pPr lvl="1"/>
            <a:r>
              <a:t>NetworkX</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9" name="Intelligent Swift Routing"/>
          <p:cNvSpPr txBox="1"/>
          <p:nvPr>
            <p:ph type="title"/>
          </p:nvPr>
        </p:nvSpPr>
        <p:spPr>
          <a:prstGeom prst="rect">
            <a:avLst/>
          </a:prstGeom>
        </p:spPr>
        <p:txBody>
          <a:bodyPr/>
          <a:lstStyle/>
          <a:p>
            <a:pPr/>
            <a:r>
              <a:t>Intelligent Swift Routing </a:t>
            </a:r>
          </a:p>
        </p:txBody>
      </p:sp>
      <p:sp>
        <p:nvSpPr>
          <p:cNvPr id="160" name="Slide Subtitle"/>
          <p:cNvSpPr txBox="1"/>
          <p:nvPr>
            <p:ph type="body" idx="21"/>
          </p:nvPr>
        </p:nvSpPr>
        <p:spPr>
          <a:prstGeom prst="rect">
            <a:avLst/>
          </a:prstGeom>
        </p:spPr>
        <p:txBody>
          <a:bodyPr/>
          <a:lstStyle/>
          <a:p>
            <a:pPr/>
          </a:p>
        </p:txBody>
      </p:sp>
      <p:sp>
        <p:nvSpPr>
          <p:cNvPr id="161" name="International/cross-border payments usually goes through a number of intermediary banks before reaching the final destination…"/>
          <p:cNvSpPr txBox="1"/>
          <p:nvPr>
            <p:ph type="body" idx="1"/>
          </p:nvPr>
        </p:nvSpPr>
        <p:spPr>
          <a:prstGeom prst="rect">
            <a:avLst/>
          </a:prstGeom>
        </p:spPr>
        <p:txBody>
          <a:bodyPr/>
          <a:lstStyle/>
          <a:p>
            <a:pPr lvl="1"/>
            <a:r>
              <a:t>International/cross-border payments usually goes through a number of intermediary banks before reaching the final destination </a:t>
            </a:r>
          </a:p>
          <a:p>
            <a:pPr lvl="1"/>
            <a:r>
              <a:t>Show example</a:t>
            </a:r>
          </a:p>
          <a:p>
            <a:pPr lvl="1"/>
          </a:p>
          <a:p>
            <a:pPr lvl="1"/>
            <a:r>
              <a:t>How are the fees calculated?</a:t>
            </a:r>
          </a:p>
          <a:p>
            <a:pPr lvl="1"/>
            <a:r>
              <a:t>The Routing path is determined by GPP Payment system by rules: </a:t>
            </a:r>
          </a:p>
          <a:p>
            <a:pPr lvl="2"/>
            <a:r>
              <a:t>If there are relationships</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3" name="Intelligent Swift Routing"/>
          <p:cNvSpPr txBox="1"/>
          <p:nvPr>
            <p:ph type="title"/>
          </p:nvPr>
        </p:nvSpPr>
        <p:spPr>
          <a:prstGeom prst="rect">
            <a:avLst/>
          </a:prstGeom>
        </p:spPr>
        <p:txBody>
          <a:bodyPr/>
          <a:lstStyle/>
          <a:p>
            <a:pPr/>
            <a:r>
              <a:t>Intelligent Swift Routing </a:t>
            </a:r>
          </a:p>
        </p:txBody>
      </p:sp>
      <p:sp>
        <p:nvSpPr>
          <p:cNvPr id="164" name="Slide Subtitle"/>
          <p:cNvSpPr txBox="1"/>
          <p:nvPr>
            <p:ph type="body" idx="21"/>
          </p:nvPr>
        </p:nvSpPr>
        <p:spPr>
          <a:prstGeom prst="rect">
            <a:avLst/>
          </a:prstGeom>
        </p:spPr>
        <p:txBody>
          <a:bodyPr/>
          <a:lstStyle/>
          <a:p>
            <a:pPr/>
          </a:p>
        </p:txBody>
      </p:sp>
      <p:sp>
        <p:nvSpPr>
          <p:cNvPr id="165" name="Enriching swift transactions with routing data, we can gain insights into the following ….…"/>
          <p:cNvSpPr txBox="1"/>
          <p:nvPr>
            <p:ph type="body" idx="1"/>
          </p:nvPr>
        </p:nvSpPr>
        <p:spPr>
          <a:prstGeom prst="rect">
            <a:avLst/>
          </a:prstGeom>
        </p:spPr>
        <p:txBody>
          <a:bodyPr/>
          <a:lstStyle/>
          <a:p>
            <a:pPr lvl="1"/>
            <a:r>
              <a:t>Enriching swift transactions with routing data, we can gain insights into the following ….</a:t>
            </a:r>
          </a:p>
          <a:p>
            <a:pPr lvl="1"/>
            <a:r>
              <a:t>How can we achieve this? Networks</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7" name="Introduction to Network Analysis"/>
          <p:cNvSpPr txBox="1"/>
          <p:nvPr>
            <p:ph type="title"/>
          </p:nvPr>
        </p:nvSpPr>
        <p:spPr>
          <a:prstGeom prst="rect">
            <a:avLst/>
          </a:prstGeom>
        </p:spPr>
        <p:txBody>
          <a:bodyPr/>
          <a:lstStyle/>
          <a:p>
            <a:pPr/>
            <a:r>
              <a:t>Introduction to Network Analysis </a:t>
            </a:r>
          </a:p>
        </p:txBody>
      </p:sp>
      <p:sp>
        <p:nvSpPr>
          <p:cNvPr id="168" name="Slide Subtitle"/>
          <p:cNvSpPr txBox="1"/>
          <p:nvPr>
            <p:ph type="body" idx="21"/>
          </p:nvPr>
        </p:nvSpPr>
        <p:spPr>
          <a:prstGeom prst="rect">
            <a:avLst/>
          </a:prstGeom>
        </p:spPr>
        <p:txBody>
          <a:bodyPr/>
          <a:lstStyle/>
          <a:p>
            <a:pPr/>
          </a:p>
        </p:txBody>
      </p:sp>
      <p:sp>
        <p:nvSpPr>
          <p:cNvPr id="169" name="Examples of networks…"/>
          <p:cNvSpPr txBox="1"/>
          <p:nvPr>
            <p:ph type="body" idx="1"/>
          </p:nvPr>
        </p:nvSpPr>
        <p:spPr>
          <a:xfrm>
            <a:off x="1206500" y="3827607"/>
            <a:ext cx="21971000" cy="8256011"/>
          </a:xfrm>
          <a:prstGeom prst="rect">
            <a:avLst/>
          </a:prstGeom>
        </p:spPr>
        <p:txBody>
          <a:bodyPr/>
          <a:lstStyle/>
          <a:p>
            <a:pPr lvl="1"/>
            <a:r>
              <a:t>Examples of networks</a:t>
            </a:r>
          </a:p>
          <a:p>
            <a:pPr lvl="3"/>
            <a:r>
              <a:t>Social media</a:t>
            </a:r>
          </a:p>
          <a:p>
            <a:pPr lvl="3"/>
            <a:r>
              <a:t>Web - Wikipedia</a:t>
            </a:r>
          </a:p>
          <a:p>
            <a:pPr lvl="3"/>
            <a:r>
              <a:t>Traffic flow</a:t>
            </a:r>
          </a:p>
          <a:p>
            <a:pPr lvl="1"/>
            <a:r>
              <a:t>Fraud Detection/Recommendations</a:t>
            </a:r>
          </a:p>
          <a:p>
            <a:pPr marL="0" indent="0" defTabSz="457200">
              <a:lnSpc>
                <a:spcPct val="100000"/>
              </a:lnSpc>
              <a:spcBef>
                <a:spcPts val="0"/>
              </a:spcBef>
              <a:buSzTx/>
              <a:buNone/>
              <a:defRPr sz="1800">
                <a:solidFill>
                  <a:srgbClr val="292929"/>
                </a:solidFill>
                <a:latin typeface="Helvetica"/>
                <a:ea typeface="Helvetica"/>
                <a:cs typeface="Helvetica"/>
                <a:sym typeface="Helvetica"/>
              </a:defRPr>
            </a:pPr>
            <a:r>
              <a:t>Networks or Graphs are a set of objects (called nodes) having some relationship with each other (called edges)</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1" name="Introduction to Network Analysis"/>
          <p:cNvSpPr txBox="1"/>
          <p:nvPr>
            <p:ph type="title"/>
          </p:nvPr>
        </p:nvSpPr>
        <p:spPr>
          <a:prstGeom prst="rect">
            <a:avLst/>
          </a:prstGeom>
        </p:spPr>
        <p:txBody>
          <a:bodyPr/>
          <a:lstStyle/>
          <a:p>
            <a:pPr/>
            <a:r>
              <a:t>Introduction to Network Analysis </a:t>
            </a:r>
          </a:p>
        </p:txBody>
      </p:sp>
      <p:sp>
        <p:nvSpPr>
          <p:cNvPr id="172" name="Slide Subtitle"/>
          <p:cNvSpPr txBox="1"/>
          <p:nvPr>
            <p:ph type="body" idx="21"/>
          </p:nvPr>
        </p:nvSpPr>
        <p:spPr>
          <a:prstGeom prst="rect">
            <a:avLst/>
          </a:prstGeom>
        </p:spPr>
        <p:txBody>
          <a:bodyPr/>
          <a:lstStyle/>
          <a:p>
            <a:pPr/>
          </a:p>
        </p:txBody>
      </p:sp>
      <p:sp>
        <p:nvSpPr>
          <p:cNvPr id="173" name="A Graph is a pair of sets. G = (V,E). V is the set of vertices. E is a set of edges. E is made up of pairs of elements from V (unordered pair)…"/>
          <p:cNvSpPr txBox="1"/>
          <p:nvPr>
            <p:ph type="body" idx="1"/>
          </p:nvPr>
        </p:nvSpPr>
        <p:spPr>
          <a:xfrm>
            <a:off x="1206500" y="3631188"/>
            <a:ext cx="21971000" cy="8256011"/>
          </a:xfrm>
          <a:prstGeom prst="rect">
            <a:avLst/>
          </a:prstGeom>
        </p:spPr>
        <p:txBody>
          <a:bodyPr/>
          <a:lstStyle/>
          <a:p>
            <a:pPr marL="700320" indent="-601133" defTabSz="1731220">
              <a:spcBef>
                <a:spcPts val="3100"/>
              </a:spcBef>
              <a:buClr>
                <a:srgbClr val="222222"/>
              </a:buClr>
              <a:buFont typeface="Helvetica"/>
              <a:defRPr sz="3407"/>
            </a:pPr>
            <a:r>
              <a:t>A </a:t>
            </a:r>
            <a:r>
              <a:rPr b="1"/>
              <a:t>Graph</a:t>
            </a:r>
            <a:r>
              <a:t> is a pair of sets.</a:t>
            </a:r>
            <a:r>
              <a:rPr sz="4969">
                <a:latin typeface="Arial"/>
                <a:ea typeface="Arial"/>
                <a:cs typeface="Arial"/>
                <a:sym typeface="Arial"/>
              </a:rPr>
              <a:t> </a:t>
            </a:r>
            <a:r>
              <a:rPr sz="4969">
                <a:solidFill>
                  <a:srgbClr val="E83E8C"/>
                </a:solidFill>
                <a:latin typeface="Arial"/>
                <a:ea typeface="Arial"/>
                <a:cs typeface="Arial"/>
                <a:sym typeface="Arial"/>
              </a:rPr>
              <a:t>G = (V,E)</a:t>
            </a:r>
            <a:r>
              <a:t>. V is the set of vertices. E is a set of edges. E is made up of pairs of elements from V (unordered pair)</a:t>
            </a:r>
          </a:p>
          <a:p>
            <a:pPr marL="700320" indent="-601133" defTabSz="1731220">
              <a:spcBef>
                <a:spcPts val="3100"/>
              </a:spcBef>
              <a:buClr>
                <a:srgbClr val="222222"/>
              </a:buClr>
              <a:buFont typeface="Helvetica"/>
              <a:defRPr sz="3407"/>
            </a:pPr>
            <a:r>
              <a:t>A </a:t>
            </a:r>
            <a:r>
              <a:rPr b="1"/>
              <a:t>DiGraph</a:t>
            </a:r>
            <a:r>
              <a:t> is also a pair of sets. </a:t>
            </a:r>
            <a:r>
              <a:rPr sz="4969">
                <a:solidFill>
                  <a:srgbClr val="E83E8C"/>
                </a:solidFill>
                <a:latin typeface="Menlo Regular"/>
                <a:ea typeface="Menlo Regular"/>
                <a:cs typeface="Menlo Regular"/>
                <a:sym typeface="Menlo Regular"/>
              </a:rPr>
              <a:t>D = (V,A)</a:t>
            </a:r>
            <a:r>
              <a:rPr sz="4969"/>
              <a:t>. </a:t>
            </a:r>
            <a:r>
              <a:t>V is the set of vertices. A is the set of arcs. A is made up of pairs of elements from V (ordered pair)</a:t>
            </a:r>
          </a:p>
          <a:p>
            <a:pPr marL="700320" indent="-601133" defTabSz="1731220">
              <a:spcBef>
                <a:spcPts val="3100"/>
              </a:spcBef>
              <a:buClr>
                <a:srgbClr val="222222"/>
              </a:buClr>
              <a:buFont typeface="Helvetica"/>
              <a:defRPr sz="3407"/>
            </a:pPr>
          </a:p>
          <a:p>
            <a:pPr marL="0" indent="0" defTabSz="1731220">
              <a:spcBef>
                <a:spcPts val="3100"/>
              </a:spcBef>
              <a:buSzTx/>
              <a:buNone/>
              <a:defRPr sz="3407"/>
            </a:pPr>
            <a:r>
              <a:rPr b="1"/>
              <a:t>Nodes</a:t>
            </a:r>
            <a:r>
              <a:t> (A,B,C,D,E in the example) are usually representing entities in the network, and can hold self-properties (such as weight, size, position and any other attribute) and network-based properties (such as </a:t>
            </a:r>
            <a:r>
              <a:rPr i="1"/>
              <a:t>Degree</a:t>
            </a:r>
            <a:r>
              <a:t>- number of neighbors or </a:t>
            </a:r>
            <a:r>
              <a:rPr i="1"/>
              <a:t>Cluster</a:t>
            </a:r>
            <a:r>
              <a:t>- a connected component the node belongs to etc.).</a:t>
            </a:r>
          </a:p>
          <a:p>
            <a:pPr marL="0" indent="0" defTabSz="1731220">
              <a:spcBef>
                <a:spcPts val="3100"/>
              </a:spcBef>
              <a:buSzTx/>
              <a:buNone/>
              <a:defRPr sz="3407"/>
            </a:pPr>
            <a:r>
              <a:rPr b="1"/>
              <a:t>Edges</a:t>
            </a:r>
            <a:r>
              <a:t> represent the connections between the nodes, and might hold properties as well (such as weight representing the strength of the connection, direction in case of asymmetric relation or time if applicable).</a:t>
            </a:r>
          </a:p>
          <a:p>
            <a:pPr marL="0" indent="0" defTabSz="1731220">
              <a:spcBef>
                <a:spcPts val="3100"/>
              </a:spcBef>
              <a:buSzTx/>
              <a:buNone/>
              <a:defRPr sz="3407"/>
            </a:pPr>
            <a:r>
              <a:t>These two basic elements can describe multiple phenomena, such as </a:t>
            </a:r>
            <a:r>
              <a:t>social connections, virtual routing network, physical electricity networks, roads network, biology relations network</a:t>
            </a:r>
            <a:r>
              <a:t> and many other relationships.</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5" name="Introduction to Network Analysis"/>
          <p:cNvSpPr txBox="1"/>
          <p:nvPr>
            <p:ph type="title"/>
          </p:nvPr>
        </p:nvSpPr>
        <p:spPr>
          <a:prstGeom prst="rect">
            <a:avLst/>
          </a:prstGeom>
        </p:spPr>
        <p:txBody>
          <a:bodyPr/>
          <a:lstStyle/>
          <a:p>
            <a:pPr/>
            <a:r>
              <a:t>Introduction to Network Analysis </a:t>
            </a:r>
          </a:p>
        </p:txBody>
      </p:sp>
      <p:sp>
        <p:nvSpPr>
          <p:cNvPr id="176" name="Slide Subtitle"/>
          <p:cNvSpPr txBox="1"/>
          <p:nvPr>
            <p:ph type="body" idx="21"/>
          </p:nvPr>
        </p:nvSpPr>
        <p:spPr>
          <a:prstGeom prst="rect">
            <a:avLst/>
          </a:prstGeom>
        </p:spPr>
        <p:txBody>
          <a:bodyPr/>
          <a:lstStyle/>
          <a:p>
            <a:pPr/>
          </a:p>
        </p:txBody>
      </p:sp>
      <p:sp>
        <p:nvSpPr>
          <p:cNvPr id="177" name="Types of Graphs - undirected / directed…"/>
          <p:cNvSpPr txBox="1"/>
          <p:nvPr>
            <p:ph type="body" idx="1"/>
          </p:nvPr>
        </p:nvSpPr>
        <p:spPr>
          <a:xfrm>
            <a:off x="1206500" y="3631188"/>
            <a:ext cx="21971000" cy="8256011"/>
          </a:xfrm>
          <a:prstGeom prst="rect">
            <a:avLst/>
          </a:prstGeom>
        </p:spPr>
        <p:txBody>
          <a:bodyPr/>
          <a:lstStyle/>
          <a:p>
            <a:pPr marL="986366" indent="-846666">
              <a:buClr>
                <a:srgbClr val="222222"/>
              </a:buClr>
              <a:buFont typeface="Helvetica"/>
            </a:pPr>
            <a:r>
              <a:t>Types of Graphs - undirected / directed</a:t>
            </a:r>
          </a:p>
          <a:p>
            <a:pPr marL="986366" indent="-846666">
              <a:buClr>
                <a:srgbClr val="222222"/>
              </a:buClr>
              <a:buFont typeface="Helvetica"/>
            </a:pPr>
          </a:p>
          <a:p>
            <a:pPr marL="986366" indent="-846666">
              <a:buClr>
                <a:srgbClr val="222222"/>
              </a:buClr>
              <a:buFont typeface="Helvetica"/>
            </a:pPr>
            <a:r>
              <a:t>Weighed Graphs</a:t>
            </a:r>
          </a:p>
          <a:p>
            <a:pPr marL="0" indent="0">
              <a:buSzTx/>
              <a:buNone/>
            </a:pPr>
            <a:r>
              <a:t>A </a:t>
            </a:r>
            <a:r>
              <a:rPr b="1">
                <a:solidFill>
                  <a:srgbClr val="1B1B32"/>
                </a:solidFill>
              </a:rPr>
              <a:t>weight graph</a:t>
            </a:r>
            <a:r>
              <a:t> is a graph whose edges have a "weight" or "cost". The weight of an edge can represent distance, time, or anything that models the "connection" between the pair of nodes it connects.</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9" name="Centrality"/>
          <p:cNvSpPr txBox="1"/>
          <p:nvPr>
            <p:ph type="title"/>
          </p:nvPr>
        </p:nvSpPr>
        <p:spPr>
          <a:prstGeom prst="rect">
            <a:avLst/>
          </a:prstGeom>
        </p:spPr>
        <p:txBody>
          <a:bodyPr/>
          <a:lstStyle/>
          <a:p>
            <a:pPr/>
            <a:r>
              <a:t>Centrality </a:t>
            </a:r>
          </a:p>
        </p:txBody>
      </p:sp>
      <p:sp>
        <p:nvSpPr>
          <p:cNvPr id="180" name="Slide Subtitle"/>
          <p:cNvSpPr txBox="1"/>
          <p:nvPr>
            <p:ph type="body" idx="21"/>
          </p:nvPr>
        </p:nvSpPr>
        <p:spPr>
          <a:prstGeom prst="rect">
            <a:avLst/>
          </a:prstGeom>
        </p:spPr>
        <p:txBody>
          <a:bodyPr/>
          <a:lstStyle/>
          <a:p>
            <a:pPr/>
          </a:p>
        </p:txBody>
      </p:sp>
      <p:sp>
        <p:nvSpPr>
          <p:cNvPr id="181" name="Highly central nodes play a key role of a network, serving as hubs for different network dynamics. However the definition and importance of centrality might differ from case to case, and may refer to different centrality measures:…"/>
          <p:cNvSpPr txBox="1"/>
          <p:nvPr>
            <p:ph type="body" idx="1"/>
          </p:nvPr>
        </p:nvSpPr>
        <p:spPr>
          <a:xfrm>
            <a:off x="1206500" y="3631188"/>
            <a:ext cx="21971000" cy="8256011"/>
          </a:xfrm>
          <a:prstGeom prst="rect">
            <a:avLst/>
          </a:prstGeom>
        </p:spPr>
        <p:txBody>
          <a:bodyPr/>
          <a:lstStyle/>
          <a:p>
            <a:pPr marL="0" indent="0">
              <a:buSzTx/>
              <a:buNone/>
            </a:pPr>
            <a:r>
              <a:t>Highly central nodes play a key role of a network, serving as hubs for different network dynamics. However the definition and importance of </a:t>
            </a:r>
            <a:r>
              <a:rPr u="sng">
                <a:hlinkClick r:id="rId2" invalidUrl="" action="" tgtFrame="" tooltip="" history="1" highlightClick="0" endSnd="0"/>
              </a:rPr>
              <a:t>centrality</a:t>
            </a:r>
            <a:r>
              <a:t> might differ from case to case, and may refer to different centrality measures:</a:t>
            </a:r>
          </a:p>
          <a:p>
            <a:pPr marL="901700" indent="-762000">
              <a:buClr>
                <a:srgbClr val="292929"/>
              </a:buClr>
              <a:buFont typeface="Helvetica"/>
            </a:pPr>
            <a:r>
              <a:rPr b="1"/>
              <a:t>	Degree</a:t>
            </a:r>
            <a:r>
              <a:t> — the amount of neighbors of the node</a:t>
            </a:r>
          </a:p>
          <a:p>
            <a:pPr marL="901700" indent="-762000">
              <a:buClr>
                <a:srgbClr val="292929"/>
              </a:buClr>
              <a:buFont typeface="Helvetica"/>
            </a:pPr>
            <a:r>
              <a:rPr b="1"/>
              <a:t>	EigenVector / PageRank </a:t>
            </a:r>
            <a:r>
              <a:t>— iterative circles of neighbors</a:t>
            </a:r>
          </a:p>
          <a:p>
            <a:pPr marL="901700" indent="-762000">
              <a:buClr>
                <a:srgbClr val="292929"/>
              </a:buClr>
              <a:buFont typeface="Helvetica"/>
            </a:pPr>
            <a:r>
              <a:rPr b="1"/>
              <a:t>	Closeness</a:t>
            </a:r>
            <a:r>
              <a:t> — the level of closeness to all of the nodes</a:t>
            </a:r>
          </a:p>
          <a:p>
            <a:pPr marL="901700" indent="-762000">
              <a:buClr>
                <a:srgbClr val="292929"/>
              </a:buClr>
              <a:buFont typeface="Helvetica"/>
            </a:pPr>
            <a:r>
              <a:rPr b="1"/>
              <a:t>	Betweenness</a:t>
            </a:r>
            <a:r>
              <a:t> — the amount of short path going through the node</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3" name="Centrality"/>
          <p:cNvSpPr txBox="1"/>
          <p:nvPr>
            <p:ph type="title"/>
          </p:nvPr>
        </p:nvSpPr>
        <p:spPr>
          <a:prstGeom prst="rect">
            <a:avLst/>
          </a:prstGeom>
        </p:spPr>
        <p:txBody>
          <a:bodyPr/>
          <a:lstStyle/>
          <a:p>
            <a:pPr/>
            <a:r>
              <a:t>Centrality </a:t>
            </a:r>
          </a:p>
        </p:txBody>
      </p:sp>
      <p:sp>
        <p:nvSpPr>
          <p:cNvPr id="184" name="Slide Subtitle"/>
          <p:cNvSpPr txBox="1"/>
          <p:nvPr>
            <p:ph type="body" idx="21"/>
          </p:nvPr>
        </p:nvSpPr>
        <p:spPr>
          <a:prstGeom prst="rect">
            <a:avLst/>
          </a:prstGeom>
        </p:spPr>
        <p:txBody>
          <a:bodyPr/>
          <a:lstStyle/>
          <a:p>
            <a:pPr/>
          </a:p>
        </p:txBody>
      </p:sp>
      <p:sp>
        <p:nvSpPr>
          <p:cNvPr id="185" name="Arroyo, D.. “Discovering Sets of Key Players in Social Networks.” Computational Social Network Analysis (2010)"/>
          <p:cNvSpPr txBox="1"/>
          <p:nvPr>
            <p:ph type="body" idx="1"/>
          </p:nvPr>
        </p:nvSpPr>
        <p:spPr>
          <a:xfrm>
            <a:off x="1206500" y="3631188"/>
            <a:ext cx="21971000" cy="8256011"/>
          </a:xfrm>
          <a:prstGeom prst="rect">
            <a:avLst/>
          </a:prstGeom>
        </p:spPr>
        <p:txBody>
          <a:bodyPr/>
          <a:lstStyle/>
          <a:p>
            <a:pPr marL="0" indent="0">
              <a:buSzTx/>
              <a:buNone/>
            </a:pPr>
          </a:p>
          <a:p>
            <a:pPr marL="0" indent="0" algn="ctr" defTabSz="457200">
              <a:lnSpc>
                <a:spcPct val="100000"/>
              </a:lnSpc>
              <a:spcBef>
                <a:spcPts val="0"/>
              </a:spcBef>
              <a:buSzTx/>
              <a:buNone/>
              <a:defRPr i="1" sz="1400" u="sng">
                <a:solidFill>
                  <a:srgbClr val="757575"/>
                </a:solidFill>
                <a:uFill>
                  <a:solidFill>
                    <a:srgbClr val="757575"/>
                  </a:solidFill>
                </a:uFill>
                <a:latin typeface="Helvetica"/>
                <a:ea typeface="Helvetica"/>
                <a:cs typeface="Helvetica"/>
                <a:sym typeface="Helvetica"/>
              </a:defRPr>
            </a:pPr>
            <a:r>
              <a:rPr>
                <a:hlinkClick r:id="rId2" invalidUrl="" action="" tgtFrame="" tooltip="" history="1" highlightClick="0" endSnd="0"/>
              </a:rPr>
              <a:t>Arroyo, D.. “Discovering Sets of Key Players in Social Networks.” Computational Social Network Analysis (2010</a:t>
            </a:r>
            <a:r>
              <a:rPr u="none"/>
              <a:t>)</a:t>
            </a:r>
            <a:endParaRPr u="none"/>
          </a:p>
        </p:txBody>
      </p:sp>
      <p:pic>
        <p:nvPicPr>
          <p:cNvPr id="186" name="Image" descr="Image"/>
          <p:cNvPicPr>
            <a:picLocks noChangeAspect="1"/>
          </p:cNvPicPr>
          <p:nvPr/>
        </p:nvPicPr>
        <p:blipFill>
          <a:blip r:embed="rId3">
            <a:extLst/>
          </a:blip>
          <a:stretch>
            <a:fillRect/>
          </a:stretch>
        </p:blipFill>
        <p:spPr>
          <a:xfrm>
            <a:off x="1206500" y="3631188"/>
            <a:ext cx="13996721" cy="7695077"/>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8" name="Preprocessing"/>
          <p:cNvSpPr txBox="1"/>
          <p:nvPr>
            <p:ph type="title"/>
          </p:nvPr>
        </p:nvSpPr>
        <p:spPr>
          <a:prstGeom prst="rect">
            <a:avLst/>
          </a:prstGeom>
        </p:spPr>
        <p:txBody>
          <a:bodyPr/>
          <a:lstStyle/>
          <a:p>
            <a:pPr/>
            <a:r>
              <a:t>Preprocessing </a:t>
            </a:r>
          </a:p>
        </p:txBody>
      </p:sp>
      <p:sp>
        <p:nvSpPr>
          <p:cNvPr id="189" name="Slide Subtitle"/>
          <p:cNvSpPr txBox="1"/>
          <p:nvPr>
            <p:ph type="body" idx="21"/>
          </p:nvPr>
        </p:nvSpPr>
        <p:spPr>
          <a:prstGeom prst="rect">
            <a:avLst/>
          </a:prstGeom>
        </p:spPr>
        <p:txBody>
          <a:bodyPr/>
          <a:lstStyle/>
          <a:p>
            <a:pPr/>
          </a:p>
        </p:txBody>
      </p:sp>
      <p:sp>
        <p:nvSpPr>
          <p:cNvPr id="190" name="Standard rate code:…"/>
          <p:cNvSpPr txBox="1"/>
          <p:nvPr>
            <p:ph type="body" idx="1"/>
          </p:nvPr>
        </p:nvSpPr>
        <p:spPr>
          <a:xfrm>
            <a:off x="1206500" y="3631188"/>
            <a:ext cx="21971000" cy="8256011"/>
          </a:xfrm>
          <a:prstGeom prst="rect">
            <a:avLst/>
          </a:prstGeom>
        </p:spPr>
        <p:txBody>
          <a:bodyPr/>
          <a:lstStyle/>
          <a:p>
            <a:pPr marL="0" indent="0" defTabSz="2145738">
              <a:spcBef>
                <a:spcPts val="3900"/>
              </a:spcBef>
              <a:buSzTx/>
              <a:buNone/>
              <a:defRPr sz="4224"/>
            </a:pPr>
            <a:r>
              <a:t>Standard rate code:</a:t>
            </a:r>
          </a:p>
          <a:p>
            <a:pPr marL="0" indent="0" defTabSz="2145738">
              <a:spcBef>
                <a:spcPts val="3900"/>
              </a:spcBef>
              <a:buSzTx/>
              <a:buNone/>
              <a:defRPr sz="4224"/>
            </a:pPr>
            <a:r>
              <a:t>April 2021</a:t>
            </a:r>
          </a:p>
          <a:p>
            <a:pPr marL="0" indent="0" defTabSz="2145738">
              <a:spcBef>
                <a:spcPts val="3900"/>
              </a:spcBef>
              <a:buSzTx/>
              <a:buNone/>
              <a:defRPr sz="4224"/>
            </a:pPr>
            <a:r>
              <a:t>Removed duration &gt; 180mins</a:t>
            </a:r>
          </a:p>
          <a:p>
            <a:pPr marL="0" indent="0" defTabSz="2145738">
              <a:spcBef>
                <a:spcPts val="3900"/>
              </a:spcBef>
              <a:buSzTx/>
              <a:buNone/>
              <a:defRPr sz="4224"/>
            </a:pPr>
            <a:r>
              <a:t>Removed pickup location == drop off location</a:t>
            </a:r>
          </a:p>
          <a:p>
            <a:pPr marL="0" indent="0" defTabSz="2145738">
              <a:spcBef>
                <a:spcPts val="3900"/>
              </a:spcBef>
              <a:buSzTx/>
              <a:buNone/>
              <a:defRPr sz="4224"/>
            </a:pPr>
            <a:r>
              <a:t>Removed drop ff/pick up location 265</a:t>
            </a:r>
          </a:p>
          <a:p>
            <a:pPr marL="0" indent="0" defTabSz="2145738">
              <a:spcBef>
                <a:spcPts val="3900"/>
              </a:spcBef>
              <a:buSzTx/>
              <a:buNone/>
              <a:defRPr sz="4224"/>
            </a:pPr>
            <a:r>
              <a:t>Amount = total amount - tip (removed </a:t>
            </a:r>
          </a:p>
          <a:p>
            <a:pPr marL="0" indent="0" defTabSz="2145738">
              <a:spcBef>
                <a:spcPts val="3900"/>
              </a:spcBef>
              <a:buSzTx/>
              <a:buNone/>
              <a:defRPr sz="4224"/>
            </a:pPr>
            <a:r>
              <a:t>Where amount is negative)</a:t>
            </a:r>
          </a:p>
          <a:p>
            <a:pPr marL="0" indent="0" defTabSz="2145738">
              <a:spcBef>
                <a:spcPts val="3900"/>
              </a:spcBef>
              <a:buSzTx/>
              <a:buNone/>
              <a:defRPr sz="4224"/>
            </a:pPr>
            <a:r>
              <a:t>Aggregated data by pick up /drop off location, took average</a:t>
            </a:r>
          </a:p>
        </p:txBody>
      </p:sp>
      <p:pic>
        <p:nvPicPr>
          <p:cNvPr id="191" name="Image" descr="Image"/>
          <p:cNvPicPr>
            <a:picLocks noChangeAspect="1"/>
          </p:cNvPicPr>
          <p:nvPr/>
        </p:nvPicPr>
        <p:blipFill>
          <a:blip r:embed="rId2">
            <a:extLst/>
          </a:blip>
          <a:stretch>
            <a:fillRect/>
          </a:stretch>
        </p:blipFill>
        <p:spPr>
          <a:xfrm>
            <a:off x="12046884" y="3630870"/>
            <a:ext cx="10401667" cy="9491279"/>
          </a:xfrm>
          <a:prstGeom prst="rect">
            <a:avLst/>
          </a:prstGeom>
          <a:ln w="12700">
            <a:miter lim="400000"/>
          </a:ln>
        </p:spPr>
      </p:pic>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3" name="NetworkX Library - Creating a Graph"/>
          <p:cNvSpPr txBox="1"/>
          <p:nvPr>
            <p:ph type="title"/>
          </p:nvPr>
        </p:nvSpPr>
        <p:spPr>
          <a:prstGeom prst="rect">
            <a:avLst/>
          </a:prstGeom>
        </p:spPr>
        <p:txBody>
          <a:bodyPr/>
          <a:lstStyle/>
          <a:p>
            <a:pPr/>
            <a:r>
              <a:t>NetworkX Library - Creating a Graph </a:t>
            </a:r>
          </a:p>
        </p:txBody>
      </p:sp>
      <p:sp>
        <p:nvSpPr>
          <p:cNvPr id="194" name="Slide Subtitle"/>
          <p:cNvSpPr txBox="1"/>
          <p:nvPr>
            <p:ph type="body" idx="21"/>
          </p:nvPr>
        </p:nvSpPr>
        <p:spPr>
          <a:prstGeom prst="rect">
            <a:avLst/>
          </a:prstGeom>
        </p:spPr>
        <p:txBody>
          <a:bodyPr/>
          <a:lstStyle/>
          <a:p>
            <a:pPr/>
          </a:p>
        </p:txBody>
      </p:sp>
      <p:sp>
        <p:nvSpPr>
          <p:cNvPr id="195" name="Able to create graph easily from the function —-…"/>
          <p:cNvSpPr txBox="1"/>
          <p:nvPr>
            <p:ph type="body" idx="1"/>
          </p:nvPr>
        </p:nvSpPr>
        <p:spPr>
          <a:xfrm>
            <a:off x="1206500" y="3490888"/>
            <a:ext cx="21971000" cy="8256012"/>
          </a:xfrm>
          <a:prstGeom prst="rect">
            <a:avLst/>
          </a:prstGeom>
        </p:spPr>
        <p:txBody>
          <a:bodyPr/>
          <a:lstStyle/>
          <a:p>
            <a:pPr marL="0" indent="0">
              <a:buSzTx/>
              <a:buNone/>
            </a:pPr>
            <a:r>
              <a:t>Able to create graph easily from the function —- </a:t>
            </a:r>
          </a:p>
          <a:p>
            <a:pPr marL="0" indent="0">
              <a:buSzTx/>
              <a:buNone/>
            </a:pPr>
            <a:r>
              <a:t>Just need to state which is the ‘source’ and ‘target’ </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7" name="Preprocessing"/>
          <p:cNvSpPr txBox="1"/>
          <p:nvPr>
            <p:ph type="title"/>
          </p:nvPr>
        </p:nvSpPr>
        <p:spPr>
          <a:prstGeom prst="rect">
            <a:avLst/>
          </a:prstGeom>
        </p:spPr>
        <p:txBody>
          <a:bodyPr/>
          <a:lstStyle/>
          <a:p>
            <a:pPr/>
            <a:r>
              <a:t>Preprocessing </a:t>
            </a:r>
          </a:p>
        </p:txBody>
      </p:sp>
      <p:sp>
        <p:nvSpPr>
          <p:cNvPr id="198" name="Slide Subtitle"/>
          <p:cNvSpPr txBox="1"/>
          <p:nvPr>
            <p:ph type="body" idx="21"/>
          </p:nvPr>
        </p:nvSpPr>
        <p:spPr>
          <a:prstGeom prst="rect">
            <a:avLst/>
          </a:prstGeom>
        </p:spPr>
        <p:txBody>
          <a:bodyPr/>
          <a:lstStyle/>
          <a:p>
            <a:pPr/>
          </a:p>
        </p:txBody>
      </p:sp>
      <p:sp>
        <p:nvSpPr>
          <p:cNvPr id="199" name="Most connected destination :…"/>
          <p:cNvSpPr txBox="1"/>
          <p:nvPr>
            <p:ph type="body" idx="1"/>
          </p:nvPr>
        </p:nvSpPr>
        <p:spPr>
          <a:xfrm>
            <a:off x="1206500" y="3631188"/>
            <a:ext cx="21971000" cy="8256011"/>
          </a:xfrm>
          <a:prstGeom prst="rect">
            <a:avLst/>
          </a:prstGeom>
        </p:spPr>
        <p:txBody>
          <a:bodyPr/>
          <a:lstStyle/>
          <a:p>
            <a:pPr marL="0" indent="0">
              <a:buSzTx/>
              <a:buNone/>
            </a:pPr>
            <a:r>
              <a:t>Most connected destination :</a:t>
            </a:r>
          </a:p>
          <a:p>
            <a:pPr marL="0" indent="0">
              <a:buSzTx/>
              <a:buNone/>
            </a:pPr>
            <a:r>
              <a:t>132 -2 J</a:t>
            </a:r>
          </a:p>
          <a:p>
            <a:pPr marL="0" indent="0">
              <a:buSzTx/>
              <a:buNone/>
            </a:pPr>
            <a:r>
              <a:t>138 - 2 </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 name="Shortest Path - Dijkstra’s algorithm"/>
          <p:cNvSpPr txBox="1"/>
          <p:nvPr>
            <p:ph type="title"/>
          </p:nvPr>
        </p:nvSpPr>
        <p:spPr>
          <a:prstGeom prst="rect">
            <a:avLst/>
          </a:prstGeom>
        </p:spPr>
        <p:txBody>
          <a:bodyPr/>
          <a:lstStyle/>
          <a:p>
            <a:pPr/>
            <a:r>
              <a:t>Shortest Path - Dijkstra’s algorithm </a:t>
            </a:r>
          </a:p>
        </p:txBody>
      </p:sp>
      <p:sp>
        <p:nvSpPr>
          <p:cNvPr id="202" name="Slide Subtitle"/>
          <p:cNvSpPr txBox="1"/>
          <p:nvPr>
            <p:ph type="body" idx="21"/>
          </p:nvPr>
        </p:nvSpPr>
        <p:spPr>
          <a:prstGeom prst="rect">
            <a:avLst/>
          </a:prstGeom>
        </p:spPr>
        <p:txBody>
          <a:bodyPr/>
          <a:lstStyle/>
          <a:p>
            <a:pPr/>
          </a:p>
        </p:txBody>
      </p:sp>
      <p:sp>
        <p:nvSpPr>
          <p:cNvPr id="203" name="created and published by Dr. Edsger W. Dijkstra in 1959…"/>
          <p:cNvSpPr txBox="1"/>
          <p:nvPr>
            <p:ph type="body" sz="quarter" idx="1"/>
          </p:nvPr>
        </p:nvSpPr>
        <p:spPr>
          <a:xfrm>
            <a:off x="982021" y="3434769"/>
            <a:ext cx="6820659" cy="8256011"/>
          </a:xfrm>
          <a:prstGeom prst="rect">
            <a:avLst/>
          </a:prstGeom>
        </p:spPr>
        <p:txBody>
          <a:bodyPr/>
          <a:lstStyle/>
          <a:p>
            <a:pPr marL="0" indent="0">
              <a:buSzTx/>
              <a:buNone/>
            </a:pPr>
            <a:r>
              <a:t>created and published by </a:t>
            </a:r>
            <a:r>
              <a:rPr u="sng">
                <a:hlinkClick r:id="rId2" invalidUrl="" action="" tgtFrame="" tooltip="" history="1" highlightClick="0" endSnd="0"/>
              </a:rPr>
              <a:t>Dr. Edsger W. Dijkstra</a:t>
            </a:r>
            <a:r>
              <a:t> in 1959</a:t>
            </a:r>
          </a:p>
          <a:p>
            <a:pPr marL="0" indent="0">
              <a:buSzTx/>
              <a:buNone/>
            </a:pPr>
            <a:r>
              <a:t>The algorithm works on weighted undirected/directed graphs, the weights must be </a:t>
            </a:r>
            <a:r>
              <a:rPr b="1"/>
              <a:t>non-negative (Can use Bellman–Ford algorithm for negative weights)</a:t>
            </a:r>
          </a:p>
        </p:txBody>
      </p:sp>
      <p:pic>
        <p:nvPicPr>
          <p:cNvPr id="204" name="Image" descr="Image"/>
          <p:cNvPicPr>
            <a:picLocks noChangeAspect="1"/>
          </p:cNvPicPr>
          <p:nvPr/>
        </p:nvPicPr>
        <p:blipFill>
          <a:blip r:embed="rId3">
            <a:extLst/>
          </a:blip>
          <a:stretch>
            <a:fillRect/>
          </a:stretch>
        </p:blipFill>
        <p:spPr>
          <a:xfrm>
            <a:off x="8428942" y="3472797"/>
            <a:ext cx="14782191" cy="8256012"/>
          </a:xfrm>
          <a:prstGeom prst="rect">
            <a:avLst/>
          </a:prstGeom>
          <a:ln w="12700">
            <a:miter lim="400000"/>
          </a:ln>
        </p:spPr>
      </p:pic>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6" name="Shortest path - Trip distance"/>
          <p:cNvSpPr txBox="1"/>
          <p:nvPr>
            <p:ph type="title"/>
          </p:nvPr>
        </p:nvSpPr>
        <p:spPr>
          <a:prstGeom prst="rect">
            <a:avLst/>
          </a:prstGeom>
        </p:spPr>
        <p:txBody>
          <a:bodyPr/>
          <a:lstStyle/>
          <a:p>
            <a:pPr/>
            <a:r>
              <a:t>Shortest path - Trip distance </a:t>
            </a:r>
          </a:p>
        </p:txBody>
      </p:sp>
      <p:sp>
        <p:nvSpPr>
          <p:cNvPr id="207" name="Slide Subtitle"/>
          <p:cNvSpPr txBox="1"/>
          <p:nvPr>
            <p:ph type="body" idx="21"/>
          </p:nvPr>
        </p:nvSpPr>
        <p:spPr>
          <a:prstGeom prst="rect">
            <a:avLst/>
          </a:prstGeom>
        </p:spPr>
        <p:txBody>
          <a:bodyPr/>
          <a:lstStyle/>
          <a:p>
            <a:pPr/>
          </a:p>
        </p:txBody>
      </p:sp>
      <p:pic>
        <p:nvPicPr>
          <p:cNvPr id="208" name="Image" descr="Image"/>
          <p:cNvPicPr>
            <a:picLocks noChangeAspect="1"/>
          </p:cNvPicPr>
          <p:nvPr/>
        </p:nvPicPr>
        <p:blipFill>
          <a:blip r:embed="rId2">
            <a:extLst/>
          </a:blip>
          <a:stretch>
            <a:fillRect/>
          </a:stretch>
        </p:blipFill>
        <p:spPr>
          <a:xfrm>
            <a:off x="12841548" y="3664210"/>
            <a:ext cx="9686394" cy="9424600"/>
          </a:xfrm>
          <a:prstGeom prst="rect">
            <a:avLst/>
          </a:prstGeom>
          <a:ln w="12700">
            <a:miter lim="400000"/>
          </a:ln>
        </p:spPr>
      </p:pic>
      <p:sp>
        <p:nvSpPr>
          <p:cNvPr id="209" name="Lets say we want to travel from Coney Island (ID 15, orange) to Bay Terrace (ID 55m Green)…"/>
          <p:cNvSpPr txBox="1"/>
          <p:nvPr>
            <p:ph type="body" sz="half" idx="1"/>
          </p:nvPr>
        </p:nvSpPr>
        <p:spPr>
          <a:xfrm>
            <a:off x="1290679" y="3490888"/>
            <a:ext cx="11226347" cy="8256012"/>
          </a:xfrm>
          <a:prstGeom prst="rect">
            <a:avLst/>
          </a:prstGeom>
        </p:spPr>
        <p:txBody>
          <a:bodyPr/>
          <a:lstStyle/>
          <a:p>
            <a:pPr marL="0" indent="0">
              <a:buSzTx/>
              <a:buNone/>
            </a:pPr>
            <a:r>
              <a:t>Lets say we want to travel from Coney Island (ID 15, orange) to Bay Terrace (ID 55m Green)</a:t>
            </a:r>
          </a:p>
          <a:p>
            <a:pPr marL="0" indent="0">
              <a:buSzTx/>
              <a:buNone/>
            </a:pPr>
            <a:r>
              <a:t>What is the shortest path in terms of distance, time and cost?</a:t>
            </a:r>
          </a:p>
          <a:p>
            <a:pPr marL="0" indent="0">
              <a:buSzTx/>
              <a:buNone/>
            </a:pPr>
          </a:p>
          <a:p>
            <a:pPr marL="0" indent="0">
              <a:buSzTx/>
              <a:buNone/>
            </a:pPr>
            <a:r>
              <a:t>Shortest distance:</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1" name="Shortest path - Duration distance"/>
          <p:cNvSpPr txBox="1"/>
          <p:nvPr>
            <p:ph type="title"/>
          </p:nvPr>
        </p:nvSpPr>
        <p:spPr>
          <a:prstGeom prst="rect">
            <a:avLst/>
          </a:prstGeom>
        </p:spPr>
        <p:txBody>
          <a:bodyPr/>
          <a:lstStyle/>
          <a:p>
            <a:pPr/>
            <a:r>
              <a:t>Shortest path - Duration distance </a:t>
            </a:r>
          </a:p>
        </p:txBody>
      </p:sp>
      <p:sp>
        <p:nvSpPr>
          <p:cNvPr id="212" name="Slide Subtitle"/>
          <p:cNvSpPr txBox="1"/>
          <p:nvPr>
            <p:ph type="body" idx="21"/>
          </p:nvPr>
        </p:nvSpPr>
        <p:spPr>
          <a:prstGeom prst="rect">
            <a:avLst/>
          </a:prstGeom>
        </p:spPr>
        <p:txBody>
          <a:bodyPr/>
          <a:lstStyle/>
          <a:p>
            <a:pPr/>
          </a:p>
        </p:txBody>
      </p:sp>
      <p:pic>
        <p:nvPicPr>
          <p:cNvPr id="213" name="Image" descr="Image"/>
          <p:cNvPicPr>
            <a:picLocks noChangeAspect="1"/>
          </p:cNvPicPr>
          <p:nvPr/>
        </p:nvPicPr>
        <p:blipFill>
          <a:blip r:embed="rId2">
            <a:extLst/>
          </a:blip>
          <a:stretch>
            <a:fillRect/>
          </a:stretch>
        </p:blipFill>
        <p:spPr>
          <a:xfrm>
            <a:off x="11965344" y="3891183"/>
            <a:ext cx="10993681" cy="8439133"/>
          </a:xfrm>
          <a:prstGeom prst="rect">
            <a:avLst/>
          </a:prstGeom>
          <a:ln w="12700">
            <a:miter lim="400000"/>
          </a:ln>
        </p:spPr>
      </p:pic>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5" name="Shortest path - Algorithms"/>
          <p:cNvSpPr txBox="1"/>
          <p:nvPr>
            <p:ph type="title"/>
          </p:nvPr>
        </p:nvSpPr>
        <p:spPr>
          <a:prstGeom prst="rect">
            <a:avLst/>
          </a:prstGeom>
        </p:spPr>
        <p:txBody>
          <a:bodyPr/>
          <a:lstStyle/>
          <a:p>
            <a:pPr/>
            <a:r>
              <a:t>Shortest path - Algorithms </a:t>
            </a:r>
          </a:p>
        </p:txBody>
      </p:sp>
      <p:sp>
        <p:nvSpPr>
          <p:cNvPr id="216" name="Slide Subtitle"/>
          <p:cNvSpPr txBox="1"/>
          <p:nvPr>
            <p:ph type="body" idx="21"/>
          </p:nvPr>
        </p:nvSpPr>
        <p:spPr>
          <a:prstGeom prst="rect">
            <a:avLst/>
          </a:prstGeom>
        </p:spPr>
        <p:txBody>
          <a:bodyPr/>
          <a:lstStyle/>
          <a:p>
            <a:pPr/>
          </a:p>
        </p:txBody>
      </p:sp>
      <p:sp>
        <p:nvSpPr>
          <p:cNvPr id="217" name="Most connected destination :…"/>
          <p:cNvSpPr txBox="1"/>
          <p:nvPr>
            <p:ph type="body" idx="1"/>
          </p:nvPr>
        </p:nvSpPr>
        <p:spPr>
          <a:xfrm>
            <a:off x="1206500" y="3631188"/>
            <a:ext cx="21971000" cy="8256011"/>
          </a:xfrm>
          <a:prstGeom prst="rect">
            <a:avLst/>
          </a:prstGeom>
        </p:spPr>
        <p:txBody>
          <a:bodyPr/>
          <a:lstStyle/>
          <a:p>
            <a:pPr marL="0" indent="0">
              <a:buSzTx/>
              <a:buNone/>
            </a:pPr>
            <a:r>
              <a:t>Most connected destination :</a:t>
            </a:r>
          </a:p>
          <a:p>
            <a:pPr marL="0" indent="0">
              <a:buSzTx/>
              <a:buNone/>
            </a:pPr>
            <a:r>
              <a:t>132 -2 J</a:t>
            </a:r>
          </a:p>
          <a:p>
            <a:pPr marL="0" indent="0">
              <a:buSzTx/>
              <a:buNone/>
            </a:pPr>
            <a:r>
              <a:t>138 - 2 </a:t>
            </a:r>
          </a:p>
        </p:txBody>
      </p:sp>
      <p:pic>
        <p:nvPicPr>
          <p:cNvPr id="218" name="Image" descr="Image"/>
          <p:cNvPicPr>
            <a:picLocks noChangeAspect="1"/>
          </p:cNvPicPr>
          <p:nvPr/>
        </p:nvPicPr>
        <p:blipFill>
          <a:blip r:embed="rId2">
            <a:extLst/>
          </a:blip>
          <a:stretch>
            <a:fillRect/>
          </a:stretch>
        </p:blipFill>
        <p:spPr>
          <a:xfrm>
            <a:off x="12725619" y="4166050"/>
            <a:ext cx="6426201" cy="4914901"/>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30_BasicColor">
  <a:themeElements>
    <a:clrScheme name="30_BasicColor">
      <a:dk1>
        <a:srgbClr val="5E5E5E"/>
      </a:dk1>
      <a:lt1>
        <a:srgbClr val="003462"/>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30_BasicColor">
      <a:majorFont>
        <a:latin typeface="Helvetica Neue"/>
        <a:ea typeface="Helvetica Neue"/>
        <a:cs typeface="Helvetica Neue"/>
      </a:majorFont>
      <a:minorFont>
        <a:latin typeface="Helvetica Neue"/>
        <a:ea typeface="Helvetica Neue"/>
        <a:cs typeface="Helvetica Neue"/>
      </a:minorFont>
    </a:fontScheme>
    <a:fmtScheme name="30_BasicCol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30_BasicColor">
  <a:themeElements>
    <a:clrScheme name="30_BasicColor">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30_BasicColor">
      <a:majorFont>
        <a:latin typeface="Helvetica Neue"/>
        <a:ea typeface="Helvetica Neue"/>
        <a:cs typeface="Helvetica Neue"/>
      </a:majorFont>
      <a:minorFont>
        <a:latin typeface="Helvetica Neue"/>
        <a:ea typeface="Helvetica Neue"/>
        <a:cs typeface="Helvetica Neue"/>
      </a:minorFont>
    </a:fontScheme>
    <a:fmtScheme name="30_BasicCol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