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8" name="Shape 148"/>
          <p:cNvSpPr/>
          <p:nvPr>
            <p:ph type="sldImg"/>
          </p:nvPr>
        </p:nvSpPr>
        <p:spPr>
          <a:xfrm>
            <a:off x="1143000" y="685800"/>
            <a:ext cx="4572000" cy="3429000"/>
          </a:xfrm>
          <a:prstGeom prst="rect">
            <a:avLst/>
          </a:prstGeom>
        </p:spPr>
        <p:txBody>
          <a:bodyPr/>
          <a:lstStyle/>
          <a:p>
            <a:pPr/>
          </a:p>
        </p:txBody>
      </p:sp>
      <p:sp>
        <p:nvSpPr>
          <p:cNvPr id="149" name="Shape 14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bg>
      <p:bgPr>
        <a:solidFill>
          <a:srgbClr val="003462"/>
        </a:solidFill>
      </p:bgPr>
    </p:bg>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47162"/>
            <a:ext cx="21971003" cy="636979"/>
          </a:xfrm>
          <a:prstGeom prst="rect">
            <a:avLst/>
          </a:prstGeom>
        </p:spPr>
        <p:txBody>
          <a:bodyPr lIns="45719" tIns="45719" rIns="45719" bIns="45719"/>
          <a:lstStyle>
            <a:lvl1pPr marL="0" indent="0" defTabSz="825500">
              <a:lnSpc>
                <a:spcPct val="100000"/>
              </a:lnSpc>
              <a:spcBef>
                <a:spcPts val="0"/>
              </a:spcBef>
              <a:buSzTx/>
              <a:buNone/>
              <a:defRPr b="1" sz="3600">
                <a:solidFill>
                  <a:srgbClr val="FFFFFF"/>
                </a:solidFill>
              </a:defRPr>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solidFill>
                  <a:srgbClr val="FFFFFF"/>
                </a:solidFill>
              </a:defRPr>
            </a:lvl1pPr>
          </a:lstStyle>
          <a:p>
            <a:pPr/>
            <a:r>
              <a:t>Presentation Title</a:t>
            </a:r>
          </a:p>
        </p:txBody>
      </p:sp>
      <p:sp>
        <p:nvSpPr>
          <p:cNvPr id="13" name="Body Level One…"/>
          <p:cNvSpPr txBox="1"/>
          <p:nvPr>
            <p:ph type="body" sz="quarter" idx="1" hasCustomPrompt="1"/>
          </p:nvPr>
        </p:nvSpPr>
        <p:spPr>
          <a:xfrm>
            <a:off x="1201342" y="7210490"/>
            <a:ext cx="21971001" cy="1905001"/>
          </a:xfrm>
          <a:prstGeom prst="rect">
            <a:avLst/>
          </a:prstGeom>
        </p:spPr>
        <p:txBody>
          <a:bodyPr/>
          <a:lstStyle>
            <a:lvl1pPr marL="0" indent="0" defTabSz="825500">
              <a:lnSpc>
                <a:spcPct val="100000"/>
              </a:lnSpc>
              <a:spcBef>
                <a:spcPts val="0"/>
              </a:spcBef>
              <a:buSzTx/>
              <a:buNone/>
              <a:defRPr b="1" sz="5500">
                <a:solidFill>
                  <a:schemeClr val="accent1"/>
                </a:solidFill>
              </a:defRPr>
            </a:lvl1pPr>
            <a:lvl2pPr marL="0" indent="457200" defTabSz="825500">
              <a:lnSpc>
                <a:spcPct val="100000"/>
              </a:lnSpc>
              <a:spcBef>
                <a:spcPts val="0"/>
              </a:spcBef>
              <a:buSzTx/>
              <a:buNone/>
              <a:defRPr b="1" sz="5500">
                <a:solidFill>
                  <a:schemeClr val="accent1"/>
                </a:solidFill>
              </a:defRPr>
            </a:lvl2pPr>
            <a:lvl3pPr marL="0" indent="914400" defTabSz="825500">
              <a:lnSpc>
                <a:spcPct val="100000"/>
              </a:lnSpc>
              <a:spcBef>
                <a:spcPts val="0"/>
              </a:spcBef>
              <a:buSzTx/>
              <a:buNone/>
              <a:defRPr b="1" sz="5500">
                <a:solidFill>
                  <a:schemeClr val="accent1"/>
                </a:solidFill>
              </a:defRPr>
            </a:lvl3pPr>
            <a:lvl4pPr marL="0" indent="1371600" defTabSz="825500">
              <a:lnSpc>
                <a:spcPct val="100000"/>
              </a:lnSpc>
              <a:spcBef>
                <a:spcPts val="0"/>
              </a:spcBef>
              <a:buSzTx/>
              <a:buNone/>
              <a:defRPr b="1" sz="5500">
                <a:solidFill>
                  <a:schemeClr val="accent1"/>
                </a:solidFill>
              </a:defRPr>
            </a:lvl4pPr>
            <a:lvl5pPr marL="0" indent="1828800" defTabSz="825500">
              <a:lnSpc>
                <a:spcPct val="100000"/>
              </a:lnSpc>
              <a:spcBef>
                <a:spcPts val="0"/>
              </a:spcBef>
              <a:buSzTx/>
              <a:buNone/>
              <a:defRPr b="1" sz="5500">
                <a:solidFill>
                  <a:schemeClr val="accent1"/>
                </a:solidFill>
              </a:defRPr>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740627569_2880x1920.jpg"/>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solidFill>
                  <a:srgbClr val="FFFFFF"/>
                </a:solidFill>
              </a:defRPr>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solidFill>
                  <a:srgbClr val="FFFFFF"/>
                </a:solidFill>
              </a:defRPr>
            </a:lvl1pPr>
            <a:lvl2pPr marL="0" indent="457200" defTabSz="825500">
              <a:lnSpc>
                <a:spcPct val="100000"/>
              </a:lnSpc>
              <a:spcBef>
                <a:spcPts val="0"/>
              </a:spcBef>
              <a:buSzTx/>
              <a:buNone/>
              <a:defRPr b="1" sz="5500">
                <a:solidFill>
                  <a:srgbClr val="FFFFFF"/>
                </a:solidFill>
              </a:defRPr>
            </a:lvl2pPr>
            <a:lvl3pPr marL="0" indent="914400" defTabSz="825500">
              <a:lnSpc>
                <a:spcPct val="100000"/>
              </a:lnSpc>
              <a:spcBef>
                <a:spcPts val="0"/>
              </a:spcBef>
              <a:buSzTx/>
              <a:buNone/>
              <a:defRPr b="1" sz="5500">
                <a:solidFill>
                  <a:srgbClr val="FFFFFF"/>
                </a:solidFill>
              </a:defRPr>
            </a:lvl3pPr>
            <a:lvl4pPr marL="0" indent="1371600" defTabSz="825500">
              <a:lnSpc>
                <a:spcPct val="100000"/>
              </a:lnSpc>
              <a:spcBef>
                <a:spcPts val="0"/>
              </a:spcBef>
              <a:buSzTx/>
              <a:buNone/>
              <a:defRPr b="1" sz="5500">
                <a:solidFill>
                  <a:srgbClr val="FFFFFF"/>
                </a:solidFill>
              </a:defRPr>
            </a:lvl4pPr>
            <a:lvl5pPr marL="0" indent="1828800" defTabSz="825500">
              <a:lnSpc>
                <a:spcPct val="100000"/>
              </a:lnSpc>
              <a:spcBef>
                <a:spcPts val="0"/>
              </a:spcBef>
              <a:buSzTx/>
              <a:buNone/>
              <a:defRPr b="1" sz="5500">
                <a:solidFill>
                  <a:srgbClr val="FFFFFF"/>
                </a:solidFill>
              </a:defRPr>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136959463_1989x1321.jpg"/>
          <p:cNvSpPr/>
          <p:nvPr>
            <p:ph type="pic" idx="21"/>
          </p:nvPr>
        </p:nvSpPr>
        <p:spPr>
          <a:xfrm>
            <a:off x="9226574" y="1270000"/>
            <a:ext cx="16840152" cy="11184435"/>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247900"/>
            <a:ext cx="9779000" cy="934779"/>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17931575_1991x1322.jpg"/>
          <p:cNvSpPr/>
          <p:nvPr>
            <p:ph type="pic" idx="22"/>
          </p:nvPr>
        </p:nvSpPr>
        <p:spPr>
          <a:xfrm>
            <a:off x="8432800" y="1263848"/>
            <a:ext cx="16850011" cy="11188205"/>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bg>
      <p:bgPr>
        <a:solidFill>
          <a:srgbClr val="003462"/>
        </a:solidFill>
      </p:bgPr>
    </p:bg>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solidFill>
                  <a:srgbClr val="FFFFFF"/>
                </a:solidFill>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952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247900"/>
            <a:ext cx="21971000" cy="934779"/>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952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247900"/>
            <a:ext cx="21971000" cy="934779"/>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solidFill>
                  <a:schemeClr val="accent1">
                    <a:hueOff val="114395"/>
                    <a:lumOff val="-24975"/>
                  </a:schemeClr>
                </a:solidFill>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solidFill>
                  <a:schemeClr val="accent1">
                    <a:hueOff val="114395"/>
                    <a:lumOff val="-24975"/>
                  </a:schemeClr>
                </a:solidFill>
              </a:defRPr>
            </a:lvl1pPr>
            <a:lvl2pPr marL="0" indent="457200" algn="ctr">
              <a:lnSpc>
                <a:spcPct val="80000"/>
              </a:lnSpc>
              <a:spcBef>
                <a:spcPts val="0"/>
              </a:spcBef>
              <a:buSzTx/>
              <a:buNone/>
              <a:defRPr b="1" spc="-250" sz="25000">
                <a:solidFill>
                  <a:schemeClr val="accent1">
                    <a:hueOff val="114395"/>
                    <a:lumOff val="-24975"/>
                  </a:schemeClr>
                </a:solidFill>
              </a:defRPr>
            </a:lvl2pPr>
            <a:lvl3pPr marL="0" indent="914400" algn="ctr">
              <a:lnSpc>
                <a:spcPct val="80000"/>
              </a:lnSpc>
              <a:spcBef>
                <a:spcPts val="0"/>
              </a:spcBef>
              <a:buSzTx/>
              <a:buNone/>
              <a:defRPr b="1" spc="-250" sz="25000">
                <a:solidFill>
                  <a:schemeClr val="accent1">
                    <a:hueOff val="114395"/>
                    <a:lumOff val="-24975"/>
                  </a:schemeClr>
                </a:solidFill>
              </a:defRPr>
            </a:lvl3pPr>
            <a:lvl4pPr marL="0" indent="1371600" algn="ctr">
              <a:lnSpc>
                <a:spcPct val="80000"/>
              </a:lnSpc>
              <a:spcBef>
                <a:spcPts val="0"/>
              </a:spcBef>
              <a:buSzTx/>
              <a:buNone/>
              <a:defRPr b="1" spc="-250" sz="25000">
                <a:solidFill>
                  <a:schemeClr val="accent1">
                    <a:hueOff val="114395"/>
                    <a:lumOff val="-24975"/>
                  </a:schemeClr>
                </a:solidFill>
              </a:defRPr>
            </a:lvl4pPr>
            <a:lvl5pPr marL="0" indent="1828800" algn="ctr">
              <a:lnSpc>
                <a:spcPct val="80000"/>
              </a:lnSpc>
              <a:spcBef>
                <a:spcPts val="0"/>
              </a:spcBef>
              <a:buSzTx/>
              <a:buNone/>
              <a:defRPr b="1" spc="-250" sz="25000">
                <a:solidFill>
                  <a:schemeClr val="accent1">
                    <a:hueOff val="114395"/>
                    <a:lumOff val="-24975"/>
                  </a:schemeClr>
                </a:solidFill>
              </a:defRPr>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80825" y="10675453"/>
            <a:ext cx="201492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1pPr>
            <a:lvl2pPr marL="638923" indent="-127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2pPr>
            <a:lvl3pPr marL="638923" indent="4445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3pPr>
            <a:lvl4pPr marL="638923" indent="9017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4pPr>
            <a:lvl5pPr marL="638923" indent="1358900">
              <a:spcBef>
                <a:spcPts val="0"/>
              </a:spcBef>
              <a:buSzTx/>
              <a:buNone/>
              <a:defRPr spc="-170" sz="8500">
                <a:solidFill>
                  <a:schemeClr val="accent1">
                    <a:hueOff val="114395"/>
                    <a:lumOff val="-24975"/>
                  </a:schemeClr>
                </a:solidFill>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617931575_1991x1322.jpg"/>
          <p:cNvSpPr/>
          <p:nvPr>
            <p:ph type="pic" sz="quarter" idx="21"/>
          </p:nvPr>
        </p:nvSpPr>
        <p:spPr>
          <a:xfrm>
            <a:off x="15436504" y="1270000"/>
            <a:ext cx="8167167" cy="5422900"/>
          </a:xfrm>
          <a:prstGeom prst="rect">
            <a:avLst/>
          </a:prstGeom>
        </p:spPr>
        <p:txBody>
          <a:bodyPr lIns="91439" tIns="45719" rIns="91439" bIns="45719">
            <a:noAutofit/>
          </a:bodyPr>
          <a:lstStyle/>
          <a:p>
            <a:pPr/>
          </a:p>
        </p:txBody>
      </p:sp>
      <p:sp>
        <p:nvSpPr>
          <p:cNvPr id="125" name="740627569_2880x1920.jpg"/>
          <p:cNvSpPr/>
          <p:nvPr>
            <p:ph type="pic" sz="quarter" idx="22"/>
          </p:nvPr>
        </p:nvSpPr>
        <p:spPr>
          <a:xfrm>
            <a:off x="15461772" y="7085972"/>
            <a:ext cx="8148414" cy="5432276"/>
          </a:xfrm>
          <a:prstGeom prst="rect">
            <a:avLst/>
          </a:prstGeom>
        </p:spPr>
        <p:txBody>
          <a:bodyPr lIns="91439" tIns="45719" rIns="91439" bIns="45719">
            <a:noAutofit/>
          </a:bodyPr>
          <a:lstStyle/>
          <a:p>
            <a:pPr/>
          </a:p>
        </p:txBody>
      </p:sp>
      <p:sp>
        <p:nvSpPr>
          <p:cNvPr id="126" name="996267730_2880x1920.jpg"/>
          <p:cNvSpPr/>
          <p:nvPr>
            <p:ph type="pic" idx="23"/>
          </p:nvPr>
        </p:nvSpPr>
        <p:spPr>
          <a:xfrm>
            <a:off x="-124635" y="1270000"/>
            <a:ext cx="16859219" cy="11239479"/>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996267730_2880x1920.jpg"/>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952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chemeClr val="accent1">
              <a:hueOff val="114395"/>
              <a:lumOff val="-24975"/>
            </a:schemeClr>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en.wikipedia.org/wiki/Centrality" TargetMode="Externa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semanticscholar.org/paper/Discovering-Sets-of-Key-Players-in-Social-Networks-Arroyo/a95793d5ce8e5370f1ef1c1b3d4c66cb02cfea39" TargetMode="External"/><Relationship Id="rId3"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4.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7.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image" Target="../media/image9.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en.wikipedia.org/wiki/Edsger_W._Dijkstra" TargetMode="External"/><Relationship Id="rId3" Type="http://schemas.openxmlformats.org/officeDocument/2006/relationships/image" Target="../media/image10.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2.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Author and Date"/>
          <p:cNvSpPr txBox="1"/>
          <p:nvPr>
            <p:ph type="body" idx="21"/>
          </p:nvPr>
        </p:nvSpPr>
        <p:spPr>
          <a:prstGeom prst="rect">
            <a:avLst/>
          </a:prstGeom>
        </p:spPr>
        <p:txBody>
          <a:bodyPr/>
          <a:lstStyle/>
          <a:p>
            <a:pPr/>
          </a:p>
        </p:txBody>
      </p:sp>
      <p:sp>
        <p:nvSpPr>
          <p:cNvPr id="152" name="Quick Introduction of Network Analysis"/>
          <p:cNvSpPr txBox="1"/>
          <p:nvPr>
            <p:ph type="ctrTitle"/>
          </p:nvPr>
        </p:nvSpPr>
        <p:spPr>
          <a:prstGeom prst="rect">
            <a:avLst/>
          </a:prstGeom>
        </p:spPr>
        <p:txBody>
          <a:bodyPr/>
          <a:lstStyle/>
          <a:p>
            <a:pPr/>
            <a:r>
              <a:t>Quick Introduction of Network Analysis </a:t>
            </a:r>
          </a:p>
        </p:txBody>
      </p:sp>
      <p:sp>
        <p:nvSpPr>
          <p:cNvPr id="153" name="Presentation Subtitle"/>
          <p:cNvSpPr txBox="1"/>
          <p:nvPr>
            <p:ph type="subTitle" sz="quarter" idx="1"/>
          </p:nvPr>
        </p:nvSpPr>
        <p:spPr>
          <a:prstGeom prst="rect">
            <a:avLst/>
          </a:prstGeom>
        </p:spPr>
        <p:txBody>
          <a:bodyPr/>
          <a:lstStyle/>
          <a:p>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Network"/>
          <p:cNvSpPr txBox="1"/>
          <p:nvPr>
            <p:ph type="title"/>
          </p:nvPr>
        </p:nvSpPr>
        <p:spPr>
          <a:prstGeom prst="rect">
            <a:avLst/>
          </a:prstGeom>
        </p:spPr>
        <p:txBody>
          <a:bodyPr/>
          <a:lstStyle/>
          <a:p>
            <a:pPr/>
            <a:r>
              <a:t>Network</a:t>
            </a:r>
          </a:p>
        </p:txBody>
      </p:sp>
      <p:sp>
        <p:nvSpPr>
          <p:cNvPr id="156" name="Slide Subtitle"/>
          <p:cNvSpPr txBox="1"/>
          <p:nvPr>
            <p:ph type="body" idx="21"/>
          </p:nvPr>
        </p:nvSpPr>
        <p:spPr>
          <a:prstGeom prst="rect">
            <a:avLst/>
          </a:prstGeom>
        </p:spPr>
        <p:txBody>
          <a:bodyPr/>
          <a:lstStyle/>
          <a:p>
            <a:pPr/>
          </a:p>
        </p:txBody>
      </p:sp>
      <p:sp>
        <p:nvSpPr>
          <p:cNvPr id="157" name="Motivation…"/>
          <p:cNvSpPr txBox="1"/>
          <p:nvPr>
            <p:ph type="body" idx="1"/>
          </p:nvPr>
        </p:nvSpPr>
        <p:spPr>
          <a:prstGeom prst="rect">
            <a:avLst/>
          </a:prstGeom>
        </p:spPr>
        <p:txBody>
          <a:bodyPr/>
          <a:lstStyle/>
          <a:p>
            <a:pPr/>
            <a:r>
              <a:t>Motivation</a:t>
            </a:r>
          </a:p>
          <a:p>
            <a:pPr/>
            <a:r>
              <a:t>Problem Statements - Project Overview - Swift Routing </a:t>
            </a:r>
          </a:p>
          <a:p>
            <a:pPr/>
            <a:r>
              <a:t>What is a network</a:t>
            </a:r>
          </a:p>
          <a:p>
            <a:pPr lvl="1"/>
            <a:r>
              <a:t>Use cases</a:t>
            </a:r>
          </a:p>
          <a:p>
            <a:pPr lvl="1"/>
            <a:r>
              <a:t>Worked Examples </a:t>
            </a:r>
          </a:p>
          <a:p>
            <a:pPr lvl="1"/>
            <a:r>
              <a:t>NetworkX</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Intelligent Swift Routing"/>
          <p:cNvSpPr txBox="1"/>
          <p:nvPr>
            <p:ph type="title"/>
          </p:nvPr>
        </p:nvSpPr>
        <p:spPr>
          <a:prstGeom prst="rect">
            <a:avLst/>
          </a:prstGeom>
        </p:spPr>
        <p:txBody>
          <a:bodyPr/>
          <a:lstStyle/>
          <a:p>
            <a:pPr/>
            <a:r>
              <a:t>Intelligent Swift Routing </a:t>
            </a:r>
          </a:p>
        </p:txBody>
      </p:sp>
      <p:sp>
        <p:nvSpPr>
          <p:cNvPr id="160" name="Slide Subtitle"/>
          <p:cNvSpPr txBox="1"/>
          <p:nvPr>
            <p:ph type="body" idx="21"/>
          </p:nvPr>
        </p:nvSpPr>
        <p:spPr>
          <a:prstGeom prst="rect">
            <a:avLst/>
          </a:prstGeom>
        </p:spPr>
        <p:txBody>
          <a:bodyPr/>
          <a:lstStyle/>
          <a:p>
            <a:pPr/>
          </a:p>
        </p:txBody>
      </p:sp>
      <p:sp>
        <p:nvSpPr>
          <p:cNvPr id="161" name="International/cross-border payments usually goes through a number of intermediary banks before reaching the final destination…"/>
          <p:cNvSpPr txBox="1"/>
          <p:nvPr>
            <p:ph type="body" idx="1"/>
          </p:nvPr>
        </p:nvSpPr>
        <p:spPr>
          <a:prstGeom prst="rect">
            <a:avLst/>
          </a:prstGeom>
        </p:spPr>
        <p:txBody>
          <a:bodyPr/>
          <a:lstStyle/>
          <a:p>
            <a:pPr lvl="1"/>
            <a:r>
              <a:t>International/cross-border payments usually goes through a number of intermediary banks before reaching the final destination </a:t>
            </a:r>
          </a:p>
          <a:p>
            <a:pPr lvl="1"/>
            <a:r>
              <a:t>Show example</a:t>
            </a:r>
          </a:p>
          <a:p>
            <a:pPr lvl="1"/>
          </a:p>
          <a:p>
            <a:pPr lvl="1"/>
            <a:r>
              <a:t>How are the fees calculated?</a:t>
            </a:r>
          </a:p>
          <a:p>
            <a:pPr lvl="1"/>
            <a:r>
              <a:t>The Routing path is determined by GPP Payment system by rules: </a:t>
            </a:r>
          </a:p>
          <a:p>
            <a:pPr lvl="2"/>
            <a:r>
              <a:t>If there are relationships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Intelligent Swift Routing"/>
          <p:cNvSpPr txBox="1"/>
          <p:nvPr>
            <p:ph type="title"/>
          </p:nvPr>
        </p:nvSpPr>
        <p:spPr>
          <a:prstGeom prst="rect">
            <a:avLst/>
          </a:prstGeom>
        </p:spPr>
        <p:txBody>
          <a:bodyPr/>
          <a:lstStyle/>
          <a:p>
            <a:pPr/>
            <a:r>
              <a:t>Intelligent Swift Routing </a:t>
            </a:r>
          </a:p>
        </p:txBody>
      </p:sp>
      <p:sp>
        <p:nvSpPr>
          <p:cNvPr id="164" name="Slide Subtitle"/>
          <p:cNvSpPr txBox="1"/>
          <p:nvPr>
            <p:ph type="body" idx="21"/>
          </p:nvPr>
        </p:nvSpPr>
        <p:spPr>
          <a:prstGeom prst="rect">
            <a:avLst/>
          </a:prstGeom>
        </p:spPr>
        <p:txBody>
          <a:bodyPr/>
          <a:lstStyle/>
          <a:p>
            <a:pPr/>
          </a:p>
        </p:txBody>
      </p:sp>
      <p:sp>
        <p:nvSpPr>
          <p:cNvPr id="165" name="Enriching swift transactions with routing data, we can gain insights into the following ….…"/>
          <p:cNvSpPr txBox="1"/>
          <p:nvPr>
            <p:ph type="body" idx="1"/>
          </p:nvPr>
        </p:nvSpPr>
        <p:spPr>
          <a:prstGeom prst="rect">
            <a:avLst/>
          </a:prstGeom>
        </p:spPr>
        <p:txBody>
          <a:bodyPr/>
          <a:lstStyle/>
          <a:p>
            <a:pPr lvl="1"/>
            <a:r>
              <a:t>Enriching swift transactions with routing data, we can gain insights into the following ….</a:t>
            </a:r>
          </a:p>
          <a:p>
            <a:pPr lvl="1"/>
            <a:r>
              <a:t>How can we achieve this? Networks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Introduction to Network Analysis"/>
          <p:cNvSpPr txBox="1"/>
          <p:nvPr>
            <p:ph type="title"/>
          </p:nvPr>
        </p:nvSpPr>
        <p:spPr>
          <a:prstGeom prst="rect">
            <a:avLst/>
          </a:prstGeom>
        </p:spPr>
        <p:txBody>
          <a:bodyPr/>
          <a:lstStyle/>
          <a:p>
            <a:pPr/>
            <a:r>
              <a:t>Introduction to Network Analysis </a:t>
            </a:r>
          </a:p>
        </p:txBody>
      </p:sp>
      <p:sp>
        <p:nvSpPr>
          <p:cNvPr id="168" name="Slide Subtitle"/>
          <p:cNvSpPr txBox="1"/>
          <p:nvPr>
            <p:ph type="body" idx="21"/>
          </p:nvPr>
        </p:nvSpPr>
        <p:spPr>
          <a:prstGeom prst="rect">
            <a:avLst/>
          </a:prstGeom>
        </p:spPr>
        <p:txBody>
          <a:bodyPr/>
          <a:lstStyle/>
          <a:p>
            <a:pPr/>
          </a:p>
        </p:txBody>
      </p:sp>
      <p:sp>
        <p:nvSpPr>
          <p:cNvPr id="169" name="Examples of networks…"/>
          <p:cNvSpPr txBox="1"/>
          <p:nvPr>
            <p:ph type="body" idx="1"/>
          </p:nvPr>
        </p:nvSpPr>
        <p:spPr>
          <a:xfrm>
            <a:off x="1206500" y="3827607"/>
            <a:ext cx="21971000" cy="8256011"/>
          </a:xfrm>
          <a:prstGeom prst="rect">
            <a:avLst/>
          </a:prstGeom>
        </p:spPr>
        <p:txBody>
          <a:bodyPr/>
          <a:lstStyle/>
          <a:p>
            <a:pPr lvl="1"/>
            <a:r>
              <a:t>Examples of networks</a:t>
            </a:r>
          </a:p>
          <a:p>
            <a:pPr lvl="3"/>
            <a:r>
              <a:t>Social media</a:t>
            </a:r>
          </a:p>
          <a:p>
            <a:pPr lvl="3"/>
            <a:r>
              <a:t>Web - Wikipedia</a:t>
            </a:r>
          </a:p>
          <a:p>
            <a:pPr lvl="3"/>
            <a:r>
              <a:t>Traffic flow</a:t>
            </a:r>
          </a:p>
          <a:p>
            <a:pPr lvl="1"/>
            <a:r>
              <a:t>Fraud Detection/Recommendations</a:t>
            </a:r>
          </a:p>
          <a:p>
            <a:pPr marL="0" indent="0" defTabSz="457200">
              <a:lnSpc>
                <a:spcPct val="100000"/>
              </a:lnSpc>
              <a:spcBef>
                <a:spcPts val="0"/>
              </a:spcBef>
              <a:buSzTx/>
              <a:buNone/>
              <a:defRPr sz="1800">
                <a:solidFill>
                  <a:srgbClr val="292929"/>
                </a:solidFill>
                <a:latin typeface="Helvetica"/>
                <a:ea typeface="Helvetica"/>
                <a:cs typeface="Helvetica"/>
                <a:sym typeface="Helvetica"/>
              </a:defRPr>
            </a:pPr>
            <a:r>
              <a:t>Networks or Graphs are a set of objects (called nodes) having some relationship with each other (called edges)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Introduction to Network Analysis"/>
          <p:cNvSpPr txBox="1"/>
          <p:nvPr>
            <p:ph type="title"/>
          </p:nvPr>
        </p:nvSpPr>
        <p:spPr>
          <a:prstGeom prst="rect">
            <a:avLst/>
          </a:prstGeom>
        </p:spPr>
        <p:txBody>
          <a:bodyPr/>
          <a:lstStyle/>
          <a:p>
            <a:pPr/>
            <a:r>
              <a:t>Introduction to Network Analysis </a:t>
            </a:r>
          </a:p>
        </p:txBody>
      </p:sp>
      <p:sp>
        <p:nvSpPr>
          <p:cNvPr id="172" name="Slide Subtitle"/>
          <p:cNvSpPr txBox="1"/>
          <p:nvPr>
            <p:ph type="body" idx="21"/>
          </p:nvPr>
        </p:nvSpPr>
        <p:spPr>
          <a:prstGeom prst="rect">
            <a:avLst/>
          </a:prstGeom>
        </p:spPr>
        <p:txBody>
          <a:bodyPr/>
          <a:lstStyle/>
          <a:p>
            <a:pPr/>
          </a:p>
        </p:txBody>
      </p:sp>
      <p:sp>
        <p:nvSpPr>
          <p:cNvPr id="173" name="A Graph is a pair of sets. G = (V,E). V is the set of vertices. E is a set of edges. E is made up of pairs of elements from V (unordered pair)…"/>
          <p:cNvSpPr txBox="1"/>
          <p:nvPr>
            <p:ph type="body" idx="1"/>
          </p:nvPr>
        </p:nvSpPr>
        <p:spPr>
          <a:xfrm>
            <a:off x="1206500" y="3631188"/>
            <a:ext cx="21971000" cy="8256011"/>
          </a:xfrm>
          <a:prstGeom prst="rect">
            <a:avLst/>
          </a:prstGeom>
        </p:spPr>
        <p:txBody>
          <a:bodyPr/>
          <a:lstStyle/>
          <a:p>
            <a:pPr marL="700320" indent="-601133" defTabSz="1731220">
              <a:spcBef>
                <a:spcPts val="3100"/>
              </a:spcBef>
              <a:buClr>
                <a:srgbClr val="222222"/>
              </a:buClr>
              <a:buFont typeface="Helvetica"/>
              <a:defRPr sz="3407"/>
            </a:pPr>
            <a:r>
              <a:t>A </a:t>
            </a:r>
            <a:r>
              <a:rPr b="1"/>
              <a:t>Graph</a:t>
            </a:r>
            <a:r>
              <a:t> is a pair of sets.</a:t>
            </a:r>
            <a:r>
              <a:rPr sz="4969">
                <a:latin typeface="Arial"/>
                <a:ea typeface="Arial"/>
                <a:cs typeface="Arial"/>
                <a:sym typeface="Arial"/>
              </a:rPr>
              <a:t> </a:t>
            </a:r>
            <a:r>
              <a:rPr sz="4969">
                <a:solidFill>
                  <a:srgbClr val="E83E8C"/>
                </a:solidFill>
                <a:latin typeface="Arial"/>
                <a:ea typeface="Arial"/>
                <a:cs typeface="Arial"/>
                <a:sym typeface="Arial"/>
              </a:rPr>
              <a:t>G = (V,E)</a:t>
            </a:r>
            <a:r>
              <a:t>. V is the set of vertices. E is a set of edges. E is made up of pairs of elements from V (unordered pair)</a:t>
            </a:r>
          </a:p>
          <a:p>
            <a:pPr marL="700320" indent="-601133" defTabSz="1731220">
              <a:spcBef>
                <a:spcPts val="3100"/>
              </a:spcBef>
              <a:buClr>
                <a:srgbClr val="222222"/>
              </a:buClr>
              <a:buFont typeface="Helvetica"/>
              <a:defRPr sz="3407"/>
            </a:pPr>
            <a:r>
              <a:t>A </a:t>
            </a:r>
            <a:r>
              <a:rPr b="1"/>
              <a:t>DiGraph</a:t>
            </a:r>
            <a:r>
              <a:t> is also a pair of sets. </a:t>
            </a:r>
            <a:r>
              <a:rPr sz="4969">
                <a:solidFill>
                  <a:srgbClr val="E83E8C"/>
                </a:solidFill>
                <a:latin typeface="Menlo Regular"/>
                <a:ea typeface="Menlo Regular"/>
                <a:cs typeface="Menlo Regular"/>
                <a:sym typeface="Menlo Regular"/>
              </a:rPr>
              <a:t>D = (V,A)</a:t>
            </a:r>
            <a:r>
              <a:rPr sz="4969"/>
              <a:t>. </a:t>
            </a:r>
            <a:r>
              <a:t>V is the set of vertices. A is the set of arcs. A is made up of pairs of elements from V (ordered pair)</a:t>
            </a:r>
          </a:p>
          <a:p>
            <a:pPr marL="700320" indent="-601133" defTabSz="1731220">
              <a:spcBef>
                <a:spcPts val="3100"/>
              </a:spcBef>
              <a:buClr>
                <a:srgbClr val="222222"/>
              </a:buClr>
              <a:buFont typeface="Helvetica"/>
              <a:defRPr sz="3407"/>
            </a:pPr>
          </a:p>
          <a:p>
            <a:pPr marL="0" indent="0" defTabSz="1731220">
              <a:spcBef>
                <a:spcPts val="3100"/>
              </a:spcBef>
              <a:buSzTx/>
              <a:buNone/>
              <a:defRPr sz="3407"/>
            </a:pPr>
            <a:r>
              <a:rPr b="1"/>
              <a:t>Nodes</a:t>
            </a:r>
            <a:r>
              <a:t> (A,B,C,D,E in the example) are usually representing entities in the network, and can hold self-properties (such as weight, size, position and any other attribute) and network-based properties (such as </a:t>
            </a:r>
            <a:r>
              <a:rPr i="1"/>
              <a:t>Degree</a:t>
            </a:r>
            <a:r>
              <a:t>- number of neighbors or </a:t>
            </a:r>
            <a:r>
              <a:rPr i="1"/>
              <a:t>Cluster</a:t>
            </a:r>
            <a:r>
              <a:t>- a connected component the node belongs to etc.).</a:t>
            </a:r>
          </a:p>
          <a:p>
            <a:pPr marL="0" indent="0" defTabSz="1731220">
              <a:spcBef>
                <a:spcPts val="3100"/>
              </a:spcBef>
              <a:buSzTx/>
              <a:buNone/>
              <a:defRPr sz="3407"/>
            </a:pPr>
            <a:r>
              <a:rPr b="1"/>
              <a:t>Edges</a:t>
            </a:r>
            <a:r>
              <a:t> represent the connections between the nodes, and might hold properties as well (such as weight representing the strength of the connection, direction in case of asymmetric relation or time if applicable).</a:t>
            </a:r>
          </a:p>
          <a:p>
            <a:pPr marL="0" indent="0" defTabSz="1731220">
              <a:spcBef>
                <a:spcPts val="3100"/>
              </a:spcBef>
              <a:buSzTx/>
              <a:buNone/>
              <a:defRPr sz="3407"/>
            </a:pPr>
            <a:r>
              <a:t>These two basic elements can describe multiple phenomena, such as </a:t>
            </a:r>
            <a:r>
              <a:t>social connections, virtual routing network, physical electricity networks, roads network, biology relations network</a:t>
            </a:r>
            <a:r>
              <a:t> and many other relationships.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Introduction to Network Analysis"/>
          <p:cNvSpPr txBox="1"/>
          <p:nvPr>
            <p:ph type="title"/>
          </p:nvPr>
        </p:nvSpPr>
        <p:spPr>
          <a:prstGeom prst="rect">
            <a:avLst/>
          </a:prstGeom>
        </p:spPr>
        <p:txBody>
          <a:bodyPr/>
          <a:lstStyle/>
          <a:p>
            <a:pPr/>
            <a:r>
              <a:t>Introduction to Network Analysis </a:t>
            </a:r>
          </a:p>
        </p:txBody>
      </p:sp>
      <p:sp>
        <p:nvSpPr>
          <p:cNvPr id="176" name="Slide Subtitle"/>
          <p:cNvSpPr txBox="1"/>
          <p:nvPr>
            <p:ph type="body" idx="21"/>
          </p:nvPr>
        </p:nvSpPr>
        <p:spPr>
          <a:prstGeom prst="rect">
            <a:avLst/>
          </a:prstGeom>
        </p:spPr>
        <p:txBody>
          <a:bodyPr/>
          <a:lstStyle/>
          <a:p>
            <a:pPr/>
          </a:p>
        </p:txBody>
      </p:sp>
      <p:sp>
        <p:nvSpPr>
          <p:cNvPr id="177" name="Types of Graphs - undirected / directed…"/>
          <p:cNvSpPr txBox="1"/>
          <p:nvPr>
            <p:ph type="body" idx="1"/>
          </p:nvPr>
        </p:nvSpPr>
        <p:spPr>
          <a:xfrm>
            <a:off x="1206500" y="3631188"/>
            <a:ext cx="21971000" cy="8256011"/>
          </a:xfrm>
          <a:prstGeom prst="rect">
            <a:avLst/>
          </a:prstGeom>
        </p:spPr>
        <p:txBody>
          <a:bodyPr/>
          <a:lstStyle/>
          <a:p>
            <a:pPr marL="986366" indent="-846666">
              <a:buClr>
                <a:srgbClr val="222222"/>
              </a:buClr>
              <a:buFont typeface="Helvetica"/>
            </a:pPr>
            <a:r>
              <a:t>Types of Graphs - undirected / directed</a:t>
            </a:r>
          </a:p>
          <a:p>
            <a:pPr marL="986366" indent="-846666">
              <a:buClr>
                <a:srgbClr val="222222"/>
              </a:buClr>
              <a:buFont typeface="Helvetica"/>
            </a:pPr>
          </a:p>
          <a:p>
            <a:pPr marL="986366" indent="-846666">
              <a:buClr>
                <a:srgbClr val="222222"/>
              </a:buClr>
              <a:buFont typeface="Helvetica"/>
            </a:pPr>
            <a:r>
              <a:t>Weighed Graphs</a:t>
            </a:r>
          </a:p>
          <a:p>
            <a:pPr marL="0" indent="0">
              <a:buSzTx/>
              <a:buNone/>
            </a:pPr>
            <a:r>
              <a:t>A </a:t>
            </a:r>
            <a:r>
              <a:rPr b="1">
                <a:solidFill>
                  <a:srgbClr val="1B1B32"/>
                </a:solidFill>
              </a:rPr>
              <a:t>weight graph</a:t>
            </a:r>
            <a:r>
              <a:t> is a graph whose edges have a "weight" or "cost". The weight of an edge can represent distance, time, or anything that models the "connection" between the pair of nodes it connects.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Centrality"/>
          <p:cNvSpPr txBox="1"/>
          <p:nvPr>
            <p:ph type="title"/>
          </p:nvPr>
        </p:nvSpPr>
        <p:spPr>
          <a:prstGeom prst="rect">
            <a:avLst/>
          </a:prstGeom>
        </p:spPr>
        <p:txBody>
          <a:bodyPr/>
          <a:lstStyle/>
          <a:p>
            <a:pPr/>
            <a:r>
              <a:t>Centrality </a:t>
            </a:r>
          </a:p>
        </p:txBody>
      </p:sp>
      <p:sp>
        <p:nvSpPr>
          <p:cNvPr id="180" name="Slide Subtitle"/>
          <p:cNvSpPr txBox="1"/>
          <p:nvPr>
            <p:ph type="body" idx="21"/>
          </p:nvPr>
        </p:nvSpPr>
        <p:spPr>
          <a:prstGeom prst="rect">
            <a:avLst/>
          </a:prstGeom>
        </p:spPr>
        <p:txBody>
          <a:bodyPr/>
          <a:lstStyle/>
          <a:p>
            <a:pPr/>
          </a:p>
        </p:txBody>
      </p:sp>
      <p:sp>
        <p:nvSpPr>
          <p:cNvPr id="181" name="Highly central nodes play a key role of a network, serving as hubs for different network dynamics. However the definition and importance of centrality might differ from case to case, and may refer to different centrality measures:…"/>
          <p:cNvSpPr txBox="1"/>
          <p:nvPr>
            <p:ph type="body" idx="1"/>
          </p:nvPr>
        </p:nvSpPr>
        <p:spPr>
          <a:xfrm>
            <a:off x="1206500" y="3631188"/>
            <a:ext cx="21971000" cy="8256011"/>
          </a:xfrm>
          <a:prstGeom prst="rect">
            <a:avLst/>
          </a:prstGeom>
        </p:spPr>
        <p:txBody>
          <a:bodyPr/>
          <a:lstStyle/>
          <a:p>
            <a:pPr marL="0" indent="0">
              <a:buSzTx/>
              <a:buNone/>
            </a:pPr>
            <a:r>
              <a:t>Highly central nodes play a key role of a network, serving as hubs for different network dynamics. However the definition and importance of </a:t>
            </a:r>
            <a:r>
              <a:rPr u="sng">
                <a:hlinkClick r:id="rId2" invalidUrl="" action="" tgtFrame="" tooltip="" history="1" highlightClick="0" endSnd="0"/>
              </a:rPr>
              <a:t>centrality</a:t>
            </a:r>
            <a:r>
              <a:t> might differ from case to case, and may refer to different centrality measures:</a:t>
            </a:r>
          </a:p>
          <a:p>
            <a:pPr marL="901700" indent="-762000">
              <a:buClr>
                <a:srgbClr val="292929"/>
              </a:buClr>
              <a:buFont typeface="Helvetica"/>
            </a:pPr>
            <a:r>
              <a:rPr b="1"/>
              <a:t>	Degree</a:t>
            </a:r>
            <a:r>
              <a:t> — the amount of neighbors of the node</a:t>
            </a:r>
          </a:p>
          <a:p>
            <a:pPr marL="901700" indent="-762000">
              <a:buClr>
                <a:srgbClr val="292929"/>
              </a:buClr>
              <a:buFont typeface="Helvetica"/>
            </a:pPr>
            <a:r>
              <a:rPr b="1"/>
              <a:t>	EigenVector / PageRank </a:t>
            </a:r>
            <a:r>
              <a:t>— iterative circles of neighbors</a:t>
            </a:r>
          </a:p>
          <a:p>
            <a:pPr marL="901700" indent="-762000">
              <a:buClr>
                <a:srgbClr val="292929"/>
              </a:buClr>
              <a:buFont typeface="Helvetica"/>
            </a:pPr>
            <a:r>
              <a:rPr b="1"/>
              <a:t>	Closeness</a:t>
            </a:r>
            <a:r>
              <a:t> — the level of closeness to all of the nodes</a:t>
            </a:r>
          </a:p>
          <a:p>
            <a:pPr marL="901700" indent="-762000">
              <a:buClr>
                <a:srgbClr val="292929"/>
              </a:buClr>
              <a:buFont typeface="Helvetica"/>
            </a:pPr>
            <a:r>
              <a:rPr b="1"/>
              <a:t>	Betweenness</a:t>
            </a:r>
            <a:r>
              <a:t> — quantifies the number of times a node acts as a bridge along the shortest path between two other nodes</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Centrality"/>
          <p:cNvSpPr txBox="1"/>
          <p:nvPr>
            <p:ph type="title"/>
          </p:nvPr>
        </p:nvSpPr>
        <p:spPr>
          <a:prstGeom prst="rect">
            <a:avLst/>
          </a:prstGeom>
        </p:spPr>
        <p:txBody>
          <a:bodyPr/>
          <a:lstStyle/>
          <a:p>
            <a:pPr/>
            <a:r>
              <a:t>Centrality </a:t>
            </a:r>
          </a:p>
        </p:txBody>
      </p:sp>
      <p:sp>
        <p:nvSpPr>
          <p:cNvPr id="184" name="Slide Subtitle"/>
          <p:cNvSpPr txBox="1"/>
          <p:nvPr>
            <p:ph type="body" idx="21"/>
          </p:nvPr>
        </p:nvSpPr>
        <p:spPr>
          <a:prstGeom prst="rect">
            <a:avLst/>
          </a:prstGeom>
        </p:spPr>
        <p:txBody>
          <a:bodyPr/>
          <a:lstStyle/>
          <a:p>
            <a:pPr/>
          </a:p>
        </p:txBody>
      </p:sp>
      <p:sp>
        <p:nvSpPr>
          <p:cNvPr id="185" name="Arroyo, D.. “Discovering Sets of Key Players in Social Networks.” Computational Social Network Analysis (2010)"/>
          <p:cNvSpPr txBox="1"/>
          <p:nvPr>
            <p:ph type="body" idx="1"/>
          </p:nvPr>
        </p:nvSpPr>
        <p:spPr>
          <a:xfrm>
            <a:off x="1206500" y="3631188"/>
            <a:ext cx="21971000" cy="8256011"/>
          </a:xfrm>
          <a:prstGeom prst="rect">
            <a:avLst/>
          </a:prstGeom>
        </p:spPr>
        <p:txBody>
          <a:bodyPr/>
          <a:lstStyle/>
          <a:p>
            <a:pPr marL="0" indent="0">
              <a:buSzTx/>
              <a:buNone/>
            </a:pPr>
          </a:p>
          <a:p>
            <a:pPr marL="0" indent="0" algn="ctr" defTabSz="457200">
              <a:lnSpc>
                <a:spcPct val="100000"/>
              </a:lnSpc>
              <a:spcBef>
                <a:spcPts val="0"/>
              </a:spcBef>
              <a:buSzTx/>
              <a:buNone/>
              <a:defRPr i="1" sz="1400" u="sng">
                <a:solidFill>
                  <a:srgbClr val="757575"/>
                </a:solidFill>
                <a:uFill>
                  <a:solidFill>
                    <a:srgbClr val="757575"/>
                  </a:solidFill>
                </a:uFill>
                <a:latin typeface="Helvetica"/>
                <a:ea typeface="Helvetica"/>
                <a:cs typeface="Helvetica"/>
                <a:sym typeface="Helvetica"/>
              </a:defRPr>
            </a:pPr>
            <a:r>
              <a:rPr>
                <a:hlinkClick r:id="rId2" invalidUrl="" action="" tgtFrame="" tooltip="" history="1" highlightClick="0" endSnd="0"/>
              </a:rPr>
              <a:t>Arroyo, D.. “Discovering Sets of Key Players in Social Networks.” Computational Social Network Analysis (2010</a:t>
            </a:r>
            <a:r>
              <a:rPr u="none"/>
              <a:t>)</a:t>
            </a:r>
            <a:endParaRPr u="none"/>
          </a:p>
        </p:txBody>
      </p:sp>
      <p:pic>
        <p:nvPicPr>
          <p:cNvPr id="186" name="Image" descr="Image"/>
          <p:cNvPicPr>
            <a:picLocks noChangeAspect="1"/>
          </p:cNvPicPr>
          <p:nvPr/>
        </p:nvPicPr>
        <p:blipFill>
          <a:blip r:embed="rId3">
            <a:extLst/>
          </a:blip>
          <a:stretch>
            <a:fillRect/>
          </a:stretch>
        </p:blipFill>
        <p:spPr>
          <a:xfrm>
            <a:off x="1206500" y="3631188"/>
            <a:ext cx="13996721" cy="7695077"/>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Preprocessing"/>
          <p:cNvSpPr txBox="1"/>
          <p:nvPr>
            <p:ph type="title"/>
          </p:nvPr>
        </p:nvSpPr>
        <p:spPr>
          <a:prstGeom prst="rect">
            <a:avLst/>
          </a:prstGeom>
        </p:spPr>
        <p:txBody>
          <a:bodyPr/>
          <a:lstStyle/>
          <a:p>
            <a:pPr/>
            <a:r>
              <a:t>Preprocessing </a:t>
            </a:r>
          </a:p>
        </p:txBody>
      </p:sp>
      <p:sp>
        <p:nvSpPr>
          <p:cNvPr id="189" name="Slide Subtitle"/>
          <p:cNvSpPr txBox="1"/>
          <p:nvPr>
            <p:ph type="body" idx="21"/>
          </p:nvPr>
        </p:nvSpPr>
        <p:spPr>
          <a:prstGeom prst="rect">
            <a:avLst/>
          </a:prstGeom>
        </p:spPr>
        <p:txBody>
          <a:bodyPr/>
          <a:lstStyle/>
          <a:p>
            <a:pPr/>
          </a:p>
        </p:txBody>
      </p:sp>
      <p:sp>
        <p:nvSpPr>
          <p:cNvPr id="190" name="Standard rate code:…"/>
          <p:cNvSpPr txBox="1"/>
          <p:nvPr>
            <p:ph type="body" idx="1"/>
          </p:nvPr>
        </p:nvSpPr>
        <p:spPr>
          <a:xfrm>
            <a:off x="1206500" y="3631188"/>
            <a:ext cx="21971000" cy="8256011"/>
          </a:xfrm>
          <a:prstGeom prst="rect">
            <a:avLst/>
          </a:prstGeom>
        </p:spPr>
        <p:txBody>
          <a:bodyPr/>
          <a:lstStyle/>
          <a:p>
            <a:pPr marL="0" indent="0" defTabSz="2145738">
              <a:spcBef>
                <a:spcPts val="3900"/>
              </a:spcBef>
              <a:buSzTx/>
              <a:buNone/>
              <a:defRPr sz="4224"/>
            </a:pPr>
            <a:r>
              <a:t>Standard rate code:</a:t>
            </a:r>
          </a:p>
          <a:p>
            <a:pPr marL="0" indent="0" defTabSz="2145738">
              <a:spcBef>
                <a:spcPts val="3900"/>
              </a:spcBef>
              <a:buSzTx/>
              <a:buNone/>
              <a:defRPr sz="4224"/>
            </a:pPr>
            <a:r>
              <a:t>April 2021</a:t>
            </a:r>
          </a:p>
          <a:p>
            <a:pPr marL="0" indent="0" defTabSz="2145738">
              <a:spcBef>
                <a:spcPts val="3900"/>
              </a:spcBef>
              <a:buSzTx/>
              <a:buNone/>
              <a:defRPr sz="4224"/>
            </a:pPr>
            <a:r>
              <a:t>Removed duration &gt; 180mins</a:t>
            </a:r>
          </a:p>
          <a:p>
            <a:pPr marL="0" indent="0" defTabSz="2145738">
              <a:spcBef>
                <a:spcPts val="3900"/>
              </a:spcBef>
              <a:buSzTx/>
              <a:buNone/>
              <a:defRPr sz="4224"/>
            </a:pPr>
            <a:r>
              <a:t>Removed pickup location == drop off location</a:t>
            </a:r>
          </a:p>
          <a:p>
            <a:pPr marL="0" indent="0" defTabSz="2145738">
              <a:spcBef>
                <a:spcPts val="3900"/>
              </a:spcBef>
              <a:buSzTx/>
              <a:buNone/>
              <a:defRPr sz="4224"/>
            </a:pPr>
            <a:r>
              <a:t>Removed drop ff/pick up location 265</a:t>
            </a:r>
          </a:p>
          <a:p>
            <a:pPr marL="0" indent="0" defTabSz="2145738">
              <a:spcBef>
                <a:spcPts val="3900"/>
              </a:spcBef>
              <a:buSzTx/>
              <a:buNone/>
              <a:defRPr sz="4224"/>
            </a:pPr>
            <a:r>
              <a:t>Amount = total amount - tip (removed </a:t>
            </a:r>
          </a:p>
          <a:p>
            <a:pPr marL="0" indent="0" defTabSz="2145738">
              <a:spcBef>
                <a:spcPts val="3900"/>
              </a:spcBef>
              <a:buSzTx/>
              <a:buNone/>
              <a:defRPr sz="4224"/>
            </a:pPr>
            <a:r>
              <a:t>Where amount is negative)</a:t>
            </a:r>
          </a:p>
          <a:p>
            <a:pPr marL="0" indent="0" defTabSz="2145738">
              <a:spcBef>
                <a:spcPts val="3900"/>
              </a:spcBef>
              <a:buSzTx/>
              <a:buNone/>
              <a:defRPr sz="4224"/>
            </a:pPr>
            <a:r>
              <a:t>Aggregated data by pick up /drop off location, took average</a:t>
            </a:r>
          </a:p>
        </p:txBody>
      </p:sp>
      <p:pic>
        <p:nvPicPr>
          <p:cNvPr id="191" name="Image" descr="Image"/>
          <p:cNvPicPr>
            <a:picLocks noChangeAspect="1"/>
          </p:cNvPicPr>
          <p:nvPr/>
        </p:nvPicPr>
        <p:blipFill>
          <a:blip r:embed="rId2">
            <a:extLst/>
          </a:blip>
          <a:stretch>
            <a:fillRect/>
          </a:stretch>
        </p:blipFill>
        <p:spPr>
          <a:xfrm>
            <a:off x="12046884" y="3630870"/>
            <a:ext cx="10401667" cy="9491279"/>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NetworkX Library - Creating a Graph"/>
          <p:cNvSpPr txBox="1"/>
          <p:nvPr>
            <p:ph type="title"/>
          </p:nvPr>
        </p:nvSpPr>
        <p:spPr>
          <a:prstGeom prst="rect">
            <a:avLst/>
          </a:prstGeom>
        </p:spPr>
        <p:txBody>
          <a:bodyPr/>
          <a:lstStyle/>
          <a:p>
            <a:pPr/>
            <a:r>
              <a:t>NetworkX Library - Creating a Graph </a:t>
            </a:r>
          </a:p>
        </p:txBody>
      </p:sp>
      <p:sp>
        <p:nvSpPr>
          <p:cNvPr id="194" name="Slide Subtitle"/>
          <p:cNvSpPr txBox="1"/>
          <p:nvPr>
            <p:ph type="body" idx="21"/>
          </p:nvPr>
        </p:nvSpPr>
        <p:spPr>
          <a:prstGeom prst="rect">
            <a:avLst/>
          </a:prstGeom>
        </p:spPr>
        <p:txBody>
          <a:bodyPr/>
          <a:lstStyle/>
          <a:p>
            <a:pPr/>
          </a:p>
        </p:txBody>
      </p:sp>
      <p:sp>
        <p:nvSpPr>
          <p:cNvPr id="195" name="Example of processed data…"/>
          <p:cNvSpPr txBox="1"/>
          <p:nvPr>
            <p:ph type="body" idx="1"/>
          </p:nvPr>
        </p:nvSpPr>
        <p:spPr>
          <a:xfrm>
            <a:off x="1206500" y="3490888"/>
            <a:ext cx="21971000" cy="8256012"/>
          </a:xfrm>
          <a:prstGeom prst="rect">
            <a:avLst/>
          </a:prstGeom>
        </p:spPr>
        <p:txBody>
          <a:bodyPr/>
          <a:lstStyle/>
          <a:p>
            <a:pPr marL="0" indent="0">
              <a:buSzTx/>
              <a:buNone/>
            </a:pPr>
            <a:r>
              <a:t>Example of processed data </a:t>
            </a:r>
          </a:p>
          <a:p>
            <a:pPr marL="0" indent="0">
              <a:buSzTx/>
              <a:buNone/>
            </a:pPr>
          </a:p>
          <a:p>
            <a:pPr marL="0" indent="0">
              <a:buSzTx/>
              <a:buNone/>
            </a:pPr>
          </a:p>
          <a:p>
            <a:pPr marL="0" indent="0">
              <a:buSzTx/>
              <a:buNone/>
            </a:pPr>
            <a:r>
              <a:t>We can easily create a graph using function </a:t>
            </a:r>
          </a:p>
          <a:p>
            <a:pPr marL="0" indent="0">
              <a:buSzTx/>
              <a:buNone/>
            </a:pPr>
          </a:p>
        </p:txBody>
      </p:sp>
      <p:pic>
        <p:nvPicPr>
          <p:cNvPr id="196" name="Image" descr="Image"/>
          <p:cNvPicPr>
            <a:picLocks noChangeAspect="1"/>
          </p:cNvPicPr>
          <p:nvPr/>
        </p:nvPicPr>
        <p:blipFill>
          <a:blip r:embed="rId2">
            <a:extLst/>
          </a:blip>
          <a:stretch>
            <a:fillRect/>
          </a:stretch>
        </p:blipFill>
        <p:spPr>
          <a:xfrm>
            <a:off x="10617448" y="3541495"/>
            <a:ext cx="11446497" cy="2038194"/>
          </a:xfrm>
          <a:prstGeom prst="rect">
            <a:avLst/>
          </a:prstGeom>
          <a:ln w="12700">
            <a:miter lim="400000"/>
          </a:ln>
        </p:spPr>
      </p:pic>
      <p:pic>
        <p:nvPicPr>
          <p:cNvPr id="197" name="Image" descr="Image"/>
          <p:cNvPicPr>
            <a:picLocks noChangeAspect="1"/>
          </p:cNvPicPr>
          <p:nvPr/>
        </p:nvPicPr>
        <p:blipFill>
          <a:blip r:embed="rId3">
            <a:extLst/>
          </a:blip>
          <a:stretch>
            <a:fillRect/>
          </a:stretch>
        </p:blipFill>
        <p:spPr>
          <a:xfrm>
            <a:off x="2188426" y="8501736"/>
            <a:ext cx="17141024" cy="3012230"/>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Visualisation of Graph"/>
          <p:cNvSpPr txBox="1"/>
          <p:nvPr>
            <p:ph type="title"/>
          </p:nvPr>
        </p:nvSpPr>
        <p:spPr>
          <a:prstGeom prst="rect">
            <a:avLst/>
          </a:prstGeom>
        </p:spPr>
        <p:txBody>
          <a:bodyPr/>
          <a:lstStyle/>
          <a:p>
            <a:pPr/>
            <a:r>
              <a:t>Visualisation of Graph</a:t>
            </a:r>
          </a:p>
        </p:txBody>
      </p:sp>
      <p:pic>
        <p:nvPicPr>
          <p:cNvPr id="200" name="Image" descr="Image"/>
          <p:cNvPicPr>
            <a:picLocks noChangeAspect="1"/>
          </p:cNvPicPr>
          <p:nvPr/>
        </p:nvPicPr>
        <p:blipFill>
          <a:blip r:embed="rId2">
            <a:extLst/>
          </a:blip>
          <a:stretch>
            <a:fillRect/>
          </a:stretch>
        </p:blipFill>
        <p:spPr>
          <a:xfrm>
            <a:off x="4264343" y="2059582"/>
            <a:ext cx="15855314" cy="11826505"/>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Centrality - Highest Degree Nodes"/>
          <p:cNvSpPr txBox="1"/>
          <p:nvPr>
            <p:ph type="title"/>
          </p:nvPr>
        </p:nvSpPr>
        <p:spPr>
          <a:prstGeom prst="rect">
            <a:avLst/>
          </a:prstGeom>
        </p:spPr>
        <p:txBody>
          <a:bodyPr/>
          <a:lstStyle/>
          <a:p>
            <a:pPr/>
            <a:r>
              <a:t>Centrality - Highest Degree Nodes</a:t>
            </a:r>
          </a:p>
        </p:txBody>
      </p:sp>
      <p:sp>
        <p:nvSpPr>
          <p:cNvPr id="203" name="For 2021"/>
          <p:cNvSpPr txBox="1"/>
          <p:nvPr/>
        </p:nvSpPr>
        <p:spPr>
          <a:xfrm>
            <a:off x="1083571" y="2780906"/>
            <a:ext cx="12609993" cy="4613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For 2021</a:t>
            </a:r>
          </a:p>
        </p:txBody>
      </p:sp>
      <p:sp>
        <p:nvSpPr>
          <p:cNvPr id="204" name="How does this compare to April 2020?"/>
          <p:cNvSpPr txBox="1"/>
          <p:nvPr/>
        </p:nvSpPr>
        <p:spPr>
          <a:xfrm>
            <a:off x="1070011" y="8592726"/>
            <a:ext cx="5342230" cy="46136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How does this compare to April 2020?</a:t>
            </a:r>
          </a:p>
        </p:txBody>
      </p:sp>
      <p:pic>
        <p:nvPicPr>
          <p:cNvPr id="205" name="Image" descr="Image"/>
          <p:cNvPicPr>
            <a:picLocks noChangeAspect="1"/>
          </p:cNvPicPr>
          <p:nvPr/>
        </p:nvPicPr>
        <p:blipFill>
          <a:blip r:embed="rId2">
            <a:extLst/>
          </a:blip>
          <a:stretch>
            <a:fillRect/>
          </a:stretch>
        </p:blipFill>
        <p:spPr>
          <a:xfrm>
            <a:off x="6121224" y="9598151"/>
            <a:ext cx="12542335" cy="2629845"/>
          </a:xfrm>
          <a:prstGeom prst="rect">
            <a:avLst/>
          </a:prstGeom>
          <a:ln w="12700">
            <a:miter lim="400000"/>
          </a:ln>
        </p:spPr>
      </p:pic>
      <p:pic>
        <p:nvPicPr>
          <p:cNvPr id="206" name="Image" descr="Image"/>
          <p:cNvPicPr>
            <a:picLocks noChangeAspect="1"/>
          </p:cNvPicPr>
          <p:nvPr/>
        </p:nvPicPr>
        <p:blipFill>
          <a:blip r:embed="rId3">
            <a:extLst/>
          </a:blip>
          <a:stretch>
            <a:fillRect/>
          </a:stretch>
        </p:blipFill>
        <p:spPr>
          <a:xfrm>
            <a:off x="6657344" y="3371630"/>
            <a:ext cx="14114055" cy="2917811"/>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Centrality - Closeness (trip distance)"/>
          <p:cNvSpPr txBox="1"/>
          <p:nvPr>
            <p:ph type="title"/>
          </p:nvPr>
        </p:nvSpPr>
        <p:spPr>
          <a:prstGeom prst="rect">
            <a:avLst/>
          </a:prstGeom>
        </p:spPr>
        <p:txBody>
          <a:bodyPr/>
          <a:lstStyle/>
          <a:p>
            <a:pPr/>
            <a:r>
              <a:t>Centrality - Closeness (trip distance)</a:t>
            </a:r>
          </a:p>
        </p:txBody>
      </p:sp>
      <p:pic>
        <p:nvPicPr>
          <p:cNvPr id="209" name="Image" descr="Image"/>
          <p:cNvPicPr>
            <a:picLocks noChangeAspect="1"/>
          </p:cNvPicPr>
          <p:nvPr/>
        </p:nvPicPr>
        <p:blipFill>
          <a:blip r:embed="rId2">
            <a:extLst/>
          </a:blip>
          <a:stretch>
            <a:fillRect/>
          </a:stretch>
        </p:blipFill>
        <p:spPr>
          <a:xfrm>
            <a:off x="12740761" y="2528572"/>
            <a:ext cx="11109818" cy="10366686"/>
          </a:xfrm>
          <a:prstGeom prst="rect">
            <a:avLst/>
          </a:prstGeom>
          <a:ln w="12700">
            <a:miter lim="400000"/>
          </a:ln>
        </p:spPr>
      </p:pic>
      <p:pic>
        <p:nvPicPr>
          <p:cNvPr id="210" name="Image" descr="Image"/>
          <p:cNvPicPr>
            <a:picLocks noChangeAspect="1"/>
          </p:cNvPicPr>
          <p:nvPr/>
        </p:nvPicPr>
        <p:blipFill>
          <a:blip r:embed="rId3">
            <a:extLst/>
          </a:blip>
          <a:stretch>
            <a:fillRect/>
          </a:stretch>
        </p:blipFill>
        <p:spPr>
          <a:xfrm>
            <a:off x="562177" y="7574727"/>
            <a:ext cx="11636772" cy="4354406"/>
          </a:xfrm>
          <a:prstGeom prst="rect">
            <a:avLst/>
          </a:prstGeom>
          <a:ln w="12700">
            <a:miter lim="400000"/>
          </a:ln>
        </p:spPr>
      </p:pic>
      <p:sp>
        <p:nvSpPr>
          <p:cNvPr id="211" name="Manhattan borough closeness in distances"/>
          <p:cNvSpPr txBox="1"/>
          <p:nvPr/>
        </p:nvSpPr>
        <p:spPr>
          <a:xfrm>
            <a:off x="509479" y="3314350"/>
            <a:ext cx="5957926" cy="461366"/>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Manhattan borough closeness in distances</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Shortest Path - Dijkstra’s algorithm"/>
          <p:cNvSpPr txBox="1"/>
          <p:nvPr>
            <p:ph type="title"/>
          </p:nvPr>
        </p:nvSpPr>
        <p:spPr>
          <a:prstGeom prst="rect">
            <a:avLst/>
          </a:prstGeom>
        </p:spPr>
        <p:txBody>
          <a:bodyPr/>
          <a:lstStyle/>
          <a:p>
            <a:pPr/>
            <a:r>
              <a:t>Shortest Path - Dijkstra’s algorithm </a:t>
            </a:r>
          </a:p>
        </p:txBody>
      </p:sp>
      <p:sp>
        <p:nvSpPr>
          <p:cNvPr id="214" name="Created Dr. Edsger W. Dijkstra in 1959…"/>
          <p:cNvSpPr txBox="1"/>
          <p:nvPr>
            <p:ph type="body" sz="quarter" idx="1"/>
          </p:nvPr>
        </p:nvSpPr>
        <p:spPr>
          <a:xfrm>
            <a:off x="982021" y="3434769"/>
            <a:ext cx="6820659" cy="8256011"/>
          </a:xfrm>
          <a:prstGeom prst="rect">
            <a:avLst/>
          </a:prstGeom>
        </p:spPr>
        <p:txBody>
          <a:bodyPr/>
          <a:lstStyle/>
          <a:p>
            <a:pPr marL="0" indent="0">
              <a:buSzTx/>
              <a:buNone/>
            </a:pPr>
            <a:r>
              <a:t>Created </a:t>
            </a:r>
            <a:r>
              <a:rPr u="sng">
                <a:hlinkClick r:id="rId2" invalidUrl="" action="" tgtFrame="" tooltip="" history="1" highlightClick="0" endSnd="0"/>
              </a:rPr>
              <a:t>Dr. Edsger W. Dijkstra</a:t>
            </a:r>
            <a:r>
              <a:t> in 1959</a:t>
            </a:r>
          </a:p>
          <a:p>
            <a:pPr marL="0" indent="0">
              <a:buSzTx/>
              <a:buNone/>
            </a:pPr>
            <a:r>
              <a:t>The algorithm works on weighted undirected/directed graphs, the weights must be </a:t>
            </a:r>
            <a:r>
              <a:rPr b="1"/>
              <a:t>non-negative (Can use Bellman–Ford algorithm for negative weights)</a:t>
            </a:r>
          </a:p>
        </p:txBody>
      </p:sp>
      <p:pic>
        <p:nvPicPr>
          <p:cNvPr id="215" name="Image" descr="Image"/>
          <p:cNvPicPr>
            <a:picLocks noChangeAspect="1"/>
          </p:cNvPicPr>
          <p:nvPr/>
        </p:nvPicPr>
        <p:blipFill>
          <a:blip r:embed="rId3">
            <a:extLst/>
          </a:blip>
          <a:stretch>
            <a:fillRect/>
          </a:stretch>
        </p:blipFill>
        <p:spPr>
          <a:xfrm>
            <a:off x="8428942" y="3472797"/>
            <a:ext cx="14782191" cy="8256012"/>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Shortest path"/>
          <p:cNvSpPr txBox="1"/>
          <p:nvPr>
            <p:ph type="title"/>
          </p:nvPr>
        </p:nvSpPr>
        <p:spPr>
          <a:prstGeom prst="rect">
            <a:avLst/>
          </a:prstGeom>
        </p:spPr>
        <p:txBody>
          <a:bodyPr/>
          <a:lstStyle/>
          <a:p>
            <a:pPr/>
            <a:r>
              <a:t>Shortest path</a:t>
            </a:r>
          </a:p>
        </p:txBody>
      </p:sp>
      <p:sp>
        <p:nvSpPr>
          <p:cNvPr id="218" name="Slide Subtitle"/>
          <p:cNvSpPr txBox="1"/>
          <p:nvPr>
            <p:ph type="body" idx="21"/>
          </p:nvPr>
        </p:nvSpPr>
        <p:spPr>
          <a:prstGeom prst="rect">
            <a:avLst/>
          </a:prstGeom>
        </p:spPr>
        <p:txBody>
          <a:bodyPr/>
          <a:lstStyle/>
          <a:p>
            <a:pPr/>
          </a:p>
        </p:txBody>
      </p:sp>
      <p:sp>
        <p:nvSpPr>
          <p:cNvPr id="219" name="Lets say we want to travel from Bay Ridge (ID 14) to Glen Oaks (ID 101)…"/>
          <p:cNvSpPr txBox="1"/>
          <p:nvPr>
            <p:ph type="body" sz="half" idx="1"/>
          </p:nvPr>
        </p:nvSpPr>
        <p:spPr>
          <a:xfrm>
            <a:off x="1290679" y="3490888"/>
            <a:ext cx="11226347" cy="8256012"/>
          </a:xfrm>
          <a:prstGeom prst="rect">
            <a:avLst/>
          </a:prstGeom>
        </p:spPr>
        <p:txBody>
          <a:bodyPr/>
          <a:lstStyle/>
          <a:p>
            <a:pPr marL="0" indent="0">
              <a:buSzTx/>
              <a:buNone/>
            </a:pPr>
            <a:r>
              <a:t>Lets say we want to travel from Bay Ridge (ID 14) to Glen Oaks (ID 101) </a:t>
            </a:r>
          </a:p>
          <a:p>
            <a:pPr marL="0" indent="0">
              <a:buSzTx/>
              <a:buNone/>
            </a:pPr>
          </a:p>
          <a:p>
            <a:pPr marL="0" indent="0">
              <a:buSzTx/>
              <a:buNone/>
            </a:pPr>
          </a:p>
          <a:p>
            <a:pPr marL="0" indent="0">
              <a:buSzTx/>
              <a:buNone/>
            </a:pPr>
            <a:r>
              <a:t>What is the shortest path in terms of distance, time and cost?</a:t>
            </a:r>
          </a:p>
        </p:txBody>
      </p:sp>
      <p:grpSp>
        <p:nvGrpSpPr>
          <p:cNvPr id="224" name="Group"/>
          <p:cNvGrpSpPr/>
          <p:nvPr/>
        </p:nvGrpSpPr>
        <p:grpSpPr>
          <a:xfrm>
            <a:off x="12967879" y="958106"/>
            <a:ext cx="11368177" cy="8786320"/>
            <a:chOff x="0" y="0"/>
            <a:chExt cx="11368175" cy="8786319"/>
          </a:xfrm>
        </p:grpSpPr>
        <p:pic>
          <p:nvPicPr>
            <p:cNvPr id="220" name="Image" descr="Image"/>
            <p:cNvPicPr>
              <a:picLocks noChangeAspect="1"/>
            </p:cNvPicPr>
            <p:nvPr/>
          </p:nvPicPr>
          <p:blipFill>
            <a:blip r:embed="rId2">
              <a:extLst/>
            </a:blip>
            <a:stretch>
              <a:fillRect/>
            </a:stretch>
          </p:blipFill>
          <p:spPr>
            <a:xfrm>
              <a:off x="0" y="0"/>
              <a:ext cx="11368176" cy="8786320"/>
            </a:xfrm>
            <a:prstGeom prst="rect">
              <a:avLst/>
            </a:prstGeom>
            <a:ln w="12700" cap="flat">
              <a:noFill/>
              <a:miter lim="400000"/>
            </a:ln>
            <a:effectLst/>
          </p:spPr>
        </p:pic>
        <p:sp>
          <p:nvSpPr>
            <p:cNvPr id="221" name="Star"/>
            <p:cNvSpPr/>
            <p:nvPr/>
          </p:nvSpPr>
          <p:spPr>
            <a:xfrm>
              <a:off x="598310" y="5364972"/>
              <a:ext cx="593901" cy="573292"/>
            </a:xfrm>
            <a:prstGeom prst="star5">
              <a:avLst>
                <a:gd name="adj" fmla="val 19100"/>
                <a:gd name="hf" fmla="val 105146"/>
                <a:gd name="vf" fmla="val 110557"/>
              </a:avLst>
            </a:prstGeom>
            <a:solidFill>
              <a:srgbClr val="ED220D"/>
            </a:solidFill>
            <a:ln w="12700" cap="flat">
              <a:noFill/>
              <a:miter lim="400000"/>
            </a:ln>
            <a:effectLst/>
          </p:spPr>
          <p:txBody>
            <a:bodyPr wrap="square" lIns="50800" tIns="50800" rIns="50800" bIns="50800" numCol="1" anchor="ctr">
              <a:noAutofit/>
            </a:bodyPr>
            <a:lstStyle/>
            <a:p>
              <a:pPr defTabSz="825500">
                <a:defRPr sz="3200">
                  <a:solidFill>
                    <a:srgbClr val="FFFFFF"/>
                  </a:solidFill>
                  <a:latin typeface="Helvetica Neue Medium"/>
                  <a:ea typeface="Helvetica Neue Medium"/>
                  <a:cs typeface="Helvetica Neue Medium"/>
                  <a:sym typeface="Helvetica Neue Medium"/>
                </a:defRPr>
              </a:pPr>
            </a:p>
          </p:txBody>
        </p:sp>
        <p:sp>
          <p:nvSpPr>
            <p:cNvPr id="222" name="Star"/>
            <p:cNvSpPr/>
            <p:nvPr/>
          </p:nvSpPr>
          <p:spPr>
            <a:xfrm>
              <a:off x="8605854" y="1437490"/>
              <a:ext cx="593901" cy="573292"/>
            </a:xfrm>
            <a:prstGeom prst="star5">
              <a:avLst>
                <a:gd name="adj" fmla="val 19100"/>
                <a:gd name="hf" fmla="val 105146"/>
                <a:gd name="vf" fmla="val 110557"/>
              </a:avLst>
            </a:prstGeom>
            <a:solidFill>
              <a:srgbClr val="ED220D"/>
            </a:solidFill>
            <a:ln w="12700" cap="flat">
              <a:noFill/>
              <a:miter lim="400000"/>
            </a:ln>
            <a:effectLst/>
          </p:spPr>
          <p:txBody>
            <a:bodyPr wrap="square" lIns="50800" tIns="50800" rIns="50800" bIns="50800" numCol="1" anchor="ctr">
              <a:noAutofit/>
            </a:bodyPr>
            <a:lstStyle/>
            <a:p>
              <a:pPr defTabSz="825500">
                <a:defRPr sz="3200">
                  <a:solidFill>
                    <a:srgbClr val="FFFFFF"/>
                  </a:solidFill>
                  <a:latin typeface="Helvetica Neue Medium"/>
                  <a:ea typeface="Helvetica Neue Medium"/>
                  <a:cs typeface="Helvetica Neue Medium"/>
                  <a:sym typeface="Helvetica Neue Medium"/>
                </a:defRPr>
              </a:pPr>
            </a:p>
          </p:txBody>
        </p:sp>
        <p:sp>
          <p:nvSpPr>
            <p:cNvPr id="223" name="Line"/>
            <p:cNvSpPr/>
            <p:nvPr/>
          </p:nvSpPr>
          <p:spPr>
            <a:xfrm flipV="1">
              <a:off x="1158863" y="1988332"/>
              <a:ext cx="7220181" cy="3690708"/>
            </a:xfrm>
            <a:prstGeom prst="line">
              <a:avLst/>
            </a:prstGeom>
            <a:noFill/>
            <a:ln w="76200" cap="flat">
              <a:solidFill>
                <a:srgbClr val="ED220D"/>
              </a:solidFill>
              <a:prstDash val="solid"/>
              <a:miter lim="400000"/>
            </a:ln>
            <a:effectLst/>
          </p:spPr>
          <p:txBody>
            <a:bodyPr wrap="square" lIns="50800" tIns="50800" rIns="50800" bIns="50800" numCol="1" anchor="ctr">
              <a:noAutofit/>
            </a:bodyPr>
            <a:lstStyle/>
            <a:p>
              <a:pPr/>
            </a:p>
          </p:txBody>
        </p:sp>
      </p:grpSp>
      <p:pic>
        <p:nvPicPr>
          <p:cNvPr id="225" name="Image" descr="Image"/>
          <p:cNvPicPr>
            <a:picLocks noChangeAspect="1"/>
          </p:cNvPicPr>
          <p:nvPr/>
        </p:nvPicPr>
        <p:blipFill>
          <a:blip r:embed="rId3">
            <a:extLst/>
          </a:blip>
          <a:stretch>
            <a:fillRect/>
          </a:stretch>
        </p:blipFill>
        <p:spPr>
          <a:xfrm>
            <a:off x="735697" y="10076953"/>
            <a:ext cx="15395238" cy="2830008"/>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Shortest path - Trip Distance"/>
          <p:cNvSpPr txBox="1"/>
          <p:nvPr>
            <p:ph type="title"/>
          </p:nvPr>
        </p:nvSpPr>
        <p:spPr>
          <a:prstGeom prst="rect">
            <a:avLst/>
          </a:prstGeom>
        </p:spPr>
        <p:txBody>
          <a:bodyPr/>
          <a:lstStyle/>
          <a:p>
            <a:pPr/>
            <a:r>
              <a:t>Shortest path - Trip Distance  </a:t>
            </a:r>
          </a:p>
        </p:txBody>
      </p:sp>
      <p:sp>
        <p:nvSpPr>
          <p:cNvPr id="228" name="Slide Subtitle"/>
          <p:cNvSpPr txBox="1"/>
          <p:nvPr>
            <p:ph type="body" idx="21"/>
          </p:nvPr>
        </p:nvSpPr>
        <p:spPr>
          <a:prstGeom prst="rect">
            <a:avLst/>
          </a:prstGeom>
        </p:spPr>
        <p:txBody>
          <a:bodyPr/>
          <a:lstStyle/>
          <a:p>
            <a:pPr/>
          </a:p>
        </p:txBody>
      </p:sp>
      <p:sp>
        <p:nvSpPr>
          <p:cNvPr id="229" name="Shortest Distance:…"/>
          <p:cNvSpPr txBox="1"/>
          <p:nvPr>
            <p:ph type="body" sz="half" idx="1"/>
          </p:nvPr>
        </p:nvSpPr>
        <p:spPr>
          <a:xfrm>
            <a:off x="1290679" y="3490888"/>
            <a:ext cx="11226347" cy="8256012"/>
          </a:xfrm>
          <a:prstGeom prst="rect">
            <a:avLst/>
          </a:prstGeom>
        </p:spPr>
        <p:txBody>
          <a:bodyPr/>
          <a:lstStyle/>
          <a:p>
            <a:pPr marL="0" indent="0" defTabSz="2243271">
              <a:spcBef>
                <a:spcPts val="4100"/>
              </a:spcBef>
              <a:buSzTx/>
              <a:buNone/>
              <a:defRPr sz="4416"/>
            </a:pPr>
            <a:r>
              <a:t>Shortest Distance:</a:t>
            </a:r>
          </a:p>
          <a:p>
            <a:pPr marL="0" indent="0" defTabSz="2243271">
              <a:spcBef>
                <a:spcPts val="4100"/>
              </a:spcBef>
              <a:buSzTx/>
              <a:buNone/>
              <a:defRPr sz="4416"/>
            </a:pPr>
            <a:r>
              <a:t>14-&gt;228-&gt;40-&gt;65-&gt;83-&gt;95-&gt;135-&gt;101</a:t>
            </a:r>
          </a:p>
          <a:p>
            <a:pPr marL="0" indent="0" defTabSz="2243271">
              <a:spcBef>
                <a:spcPts val="4100"/>
              </a:spcBef>
              <a:buSzTx/>
              <a:buNone/>
              <a:defRPr sz="4416"/>
            </a:pPr>
          </a:p>
          <a:p>
            <a:pPr marL="0" indent="0" defTabSz="2243271">
              <a:spcBef>
                <a:spcPts val="4100"/>
              </a:spcBef>
              <a:buSzTx/>
              <a:buNone/>
              <a:defRPr sz="4416"/>
            </a:pPr>
            <a:r>
              <a:t>Bay Ridge-&gt;Sunset Park West-&gt;Carroll Gardens-&gt;Downtown Brooklyn/MetroTech-&gt;Elmhurst/Maspeth-&gt;Forest Hills-&gt;Kew Gardens Hills-&gt;Glen Oaks</a:t>
            </a:r>
          </a:p>
          <a:p>
            <a:pPr marL="0" indent="0" defTabSz="2243271">
              <a:spcBef>
                <a:spcPts val="4100"/>
              </a:spcBef>
              <a:buSzTx/>
              <a:buNone/>
              <a:defRPr sz="4416"/>
            </a:pPr>
          </a:p>
          <a:p>
            <a:pPr marL="0" indent="0" defTabSz="2243271">
              <a:spcBef>
                <a:spcPts val="4100"/>
              </a:spcBef>
              <a:buSzTx/>
              <a:buNone/>
              <a:defRPr sz="4416"/>
            </a:pPr>
            <a:r>
              <a:t>Total Distance = 25.25miles</a:t>
            </a:r>
          </a:p>
        </p:txBody>
      </p:sp>
      <p:pic>
        <p:nvPicPr>
          <p:cNvPr id="230" name="Image" descr="Image"/>
          <p:cNvPicPr>
            <a:picLocks noChangeAspect="1"/>
          </p:cNvPicPr>
          <p:nvPr/>
        </p:nvPicPr>
        <p:blipFill>
          <a:blip r:embed="rId2">
            <a:extLst/>
          </a:blip>
          <a:stretch>
            <a:fillRect/>
          </a:stretch>
        </p:blipFill>
        <p:spPr>
          <a:xfrm>
            <a:off x="12372015" y="3694109"/>
            <a:ext cx="12129498" cy="7849571"/>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Shortest path - Fare Amount"/>
          <p:cNvSpPr txBox="1"/>
          <p:nvPr>
            <p:ph type="title"/>
          </p:nvPr>
        </p:nvSpPr>
        <p:spPr>
          <a:prstGeom prst="rect">
            <a:avLst/>
          </a:prstGeom>
        </p:spPr>
        <p:txBody>
          <a:bodyPr/>
          <a:lstStyle/>
          <a:p>
            <a:pPr/>
            <a:r>
              <a:t>Shortest path - Fare Amount</a:t>
            </a:r>
          </a:p>
        </p:txBody>
      </p:sp>
      <p:sp>
        <p:nvSpPr>
          <p:cNvPr id="233" name="Slide Subtitle"/>
          <p:cNvSpPr txBox="1"/>
          <p:nvPr>
            <p:ph type="body" idx="21"/>
          </p:nvPr>
        </p:nvSpPr>
        <p:spPr>
          <a:prstGeom prst="rect">
            <a:avLst/>
          </a:prstGeom>
        </p:spPr>
        <p:txBody>
          <a:bodyPr/>
          <a:lstStyle/>
          <a:p>
            <a:pPr/>
          </a:p>
        </p:txBody>
      </p:sp>
      <p:sp>
        <p:nvSpPr>
          <p:cNvPr id="234" name="Shortest Distance:…"/>
          <p:cNvSpPr txBox="1"/>
          <p:nvPr>
            <p:ph type="body" sz="half" idx="1"/>
          </p:nvPr>
        </p:nvSpPr>
        <p:spPr>
          <a:xfrm>
            <a:off x="1290679" y="3490888"/>
            <a:ext cx="11226347" cy="8256012"/>
          </a:xfrm>
          <a:prstGeom prst="rect">
            <a:avLst/>
          </a:prstGeom>
        </p:spPr>
        <p:txBody>
          <a:bodyPr/>
          <a:lstStyle/>
          <a:p>
            <a:pPr marL="0" indent="0">
              <a:buSzTx/>
              <a:buNone/>
            </a:pPr>
            <a:r>
              <a:t>Shortest Distance:</a:t>
            </a:r>
          </a:p>
          <a:p>
            <a:pPr marL="0" indent="0">
              <a:buSzTx/>
              <a:buNone/>
            </a:pPr>
            <a:r>
              <a:t>14-&gt;181-&gt;138-&gt;101</a:t>
            </a:r>
          </a:p>
          <a:p>
            <a:pPr marL="0" indent="0">
              <a:buSzTx/>
              <a:buNone/>
            </a:pPr>
          </a:p>
          <a:p>
            <a:pPr marL="0" indent="0">
              <a:buSzTx/>
              <a:buNone/>
            </a:pPr>
            <a:r>
              <a:t>Bay Ridge-&gt;Park Slope-&gt;LaGuardia Airport-&gt;Glen Oaks</a:t>
            </a:r>
          </a:p>
          <a:p>
            <a:pPr marL="0" indent="0">
              <a:buSzTx/>
              <a:buNone/>
            </a:pPr>
            <a:r>
              <a:t>Total cost = $95.71</a:t>
            </a:r>
          </a:p>
        </p:txBody>
      </p:sp>
      <p:pic>
        <p:nvPicPr>
          <p:cNvPr id="235" name="Image" descr="Image"/>
          <p:cNvPicPr>
            <a:picLocks noChangeAspect="1"/>
          </p:cNvPicPr>
          <p:nvPr/>
        </p:nvPicPr>
        <p:blipFill>
          <a:blip r:embed="rId2">
            <a:extLst/>
          </a:blip>
          <a:stretch>
            <a:fillRect/>
          </a:stretch>
        </p:blipFill>
        <p:spPr>
          <a:xfrm>
            <a:off x="10748319" y="3709075"/>
            <a:ext cx="13003512" cy="9334870"/>
          </a:xfrm>
          <a:prstGeom prst="rect">
            <a:avLst/>
          </a:prstGeom>
          <a:ln w="12700">
            <a:miter lim="400000"/>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Shortest path - Time"/>
          <p:cNvSpPr txBox="1"/>
          <p:nvPr>
            <p:ph type="title"/>
          </p:nvPr>
        </p:nvSpPr>
        <p:spPr>
          <a:prstGeom prst="rect">
            <a:avLst/>
          </a:prstGeom>
        </p:spPr>
        <p:txBody>
          <a:bodyPr/>
          <a:lstStyle/>
          <a:p>
            <a:pPr/>
            <a:r>
              <a:t>Shortest path - Time</a:t>
            </a:r>
          </a:p>
        </p:txBody>
      </p:sp>
      <p:sp>
        <p:nvSpPr>
          <p:cNvPr id="238" name="Slide Subtitle"/>
          <p:cNvSpPr txBox="1"/>
          <p:nvPr>
            <p:ph type="body" idx="21"/>
          </p:nvPr>
        </p:nvSpPr>
        <p:spPr>
          <a:prstGeom prst="rect">
            <a:avLst/>
          </a:prstGeom>
        </p:spPr>
        <p:txBody>
          <a:bodyPr/>
          <a:lstStyle/>
          <a:p>
            <a:pPr/>
          </a:p>
        </p:txBody>
      </p:sp>
      <p:sp>
        <p:nvSpPr>
          <p:cNvPr id="239" name="Shortest Distance:…"/>
          <p:cNvSpPr txBox="1"/>
          <p:nvPr>
            <p:ph type="body" sz="half" idx="1"/>
          </p:nvPr>
        </p:nvSpPr>
        <p:spPr>
          <a:xfrm>
            <a:off x="1290679" y="3490888"/>
            <a:ext cx="11226347" cy="8256012"/>
          </a:xfrm>
          <a:prstGeom prst="rect">
            <a:avLst/>
          </a:prstGeom>
        </p:spPr>
        <p:txBody>
          <a:bodyPr/>
          <a:lstStyle/>
          <a:p>
            <a:pPr marL="0" indent="0">
              <a:buSzTx/>
              <a:buNone/>
            </a:pPr>
            <a:r>
              <a:t>Shortest Distance:</a:t>
            </a:r>
          </a:p>
          <a:p>
            <a:pPr marL="0" indent="0">
              <a:buSzTx/>
              <a:buNone/>
            </a:pPr>
            <a:r>
              <a:t>14-&gt;22-&gt;132-&gt;101</a:t>
            </a:r>
          </a:p>
          <a:p>
            <a:pPr marL="0" indent="0">
              <a:buSzTx/>
              <a:buNone/>
            </a:pPr>
          </a:p>
          <a:p>
            <a:pPr marL="0" indent="0">
              <a:buSzTx/>
              <a:buNone/>
            </a:pPr>
            <a:r>
              <a:t>Bay Ridge-&gt;Bensonhurst West-&gt;JFK Airport-&gt; Glen oaks</a:t>
            </a:r>
          </a:p>
          <a:p>
            <a:pPr marL="0" indent="0">
              <a:buSzTx/>
              <a:buNone/>
            </a:pPr>
          </a:p>
          <a:p>
            <a:pPr marL="0" indent="0">
              <a:buSzTx/>
              <a:buNone/>
            </a:pPr>
            <a:r>
              <a:t>Total time = 76.35mins</a:t>
            </a:r>
          </a:p>
        </p:txBody>
      </p:sp>
      <p:pic>
        <p:nvPicPr>
          <p:cNvPr id="240" name="Image" descr="Image"/>
          <p:cNvPicPr>
            <a:picLocks noChangeAspect="1"/>
          </p:cNvPicPr>
          <p:nvPr/>
        </p:nvPicPr>
        <p:blipFill>
          <a:blip r:embed="rId2">
            <a:extLst/>
          </a:blip>
          <a:stretch>
            <a:fillRect/>
          </a:stretch>
        </p:blipFill>
        <p:spPr>
          <a:xfrm>
            <a:off x="11443403" y="3334329"/>
            <a:ext cx="11732030" cy="7635408"/>
          </a:xfrm>
          <a:prstGeom prst="rect">
            <a:avLst/>
          </a:prstGeom>
          <a:ln w="12700">
            <a:miter lim="400000"/>
          </a:ln>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2" name="Shortest path - Comparison"/>
          <p:cNvSpPr txBox="1"/>
          <p:nvPr>
            <p:ph type="title"/>
          </p:nvPr>
        </p:nvSpPr>
        <p:spPr>
          <a:prstGeom prst="rect">
            <a:avLst/>
          </a:prstGeom>
        </p:spPr>
        <p:txBody>
          <a:bodyPr/>
          <a:lstStyle/>
          <a:p>
            <a:pPr/>
            <a:r>
              <a:t>Shortest path - Comparison </a:t>
            </a:r>
          </a:p>
        </p:txBody>
      </p:sp>
      <p:sp>
        <p:nvSpPr>
          <p:cNvPr id="243" name="Slide Subtitle"/>
          <p:cNvSpPr txBox="1"/>
          <p:nvPr>
            <p:ph type="body" idx="21"/>
          </p:nvPr>
        </p:nvSpPr>
        <p:spPr>
          <a:prstGeom prst="rect">
            <a:avLst/>
          </a:prstGeom>
        </p:spPr>
        <p:txBody>
          <a:bodyPr/>
          <a:lstStyle/>
          <a:p>
            <a:pPr/>
          </a:p>
        </p:txBody>
      </p:sp>
      <p:graphicFrame>
        <p:nvGraphicFramePr>
          <p:cNvPr id="244" name="Table"/>
          <p:cNvGraphicFramePr/>
          <p:nvPr/>
        </p:nvGraphicFramePr>
        <p:xfrm>
          <a:off x="2388375" y="4214158"/>
          <a:ext cx="19619950" cy="833740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901812"/>
                <a:gridCol w="4901812"/>
                <a:gridCol w="4901812"/>
                <a:gridCol w="4901812"/>
              </a:tblGrid>
              <a:tr h="2081175">
                <a:tc>
                  <a:txBody>
                    <a:bodyPr/>
                    <a:lstStyle/>
                    <a:p>
                      <a:pPr defTabSz="914400"/>
                      <a:r>
                        <a:rPr b="1" sz="3200"/>
                        <a:t>Shortest Path</a:t>
                      </a:r>
                    </a:p>
                  </a:txBody>
                  <a:tcPr marL="50800" marR="50800" marT="50800" marB="50800" anchor="ctr" anchorCtr="0" horzOverflow="overflow"/>
                </a:tc>
                <a:tc>
                  <a:txBody>
                    <a:bodyPr/>
                    <a:lstStyle/>
                    <a:p>
                      <a:pPr defTabSz="914400"/>
                      <a:r>
                        <a:rPr b="1" sz="3200"/>
                        <a:t>Distance(miles)</a:t>
                      </a:r>
                    </a:p>
                  </a:txBody>
                  <a:tcPr marL="50800" marR="50800" marT="50800" marB="50800" anchor="ctr" anchorCtr="0" horzOverflow="overflow"/>
                </a:tc>
                <a:tc>
                  <a:txBody>
                    <a:bodyPr/>
                    <a:lstStyle/>
                    <a:p>
                      <a:pPr defTabSz="914400"/>
                      <a:r>
                        <a:rPr b="1" sz="3200"/>
                        <a:t>Amount($)</a:t>
                      </a:r>
                    </a:p>
                  </a:txBody>
                  <a:tcPr marL="50800" marR="50800" marT="50800" marB="50800" anchor="ctr" anchorCtr="0" horzOverflow="overflow"/>
                </a:tc>
                <a:tc>
                  <a:txBody>
                    <a:bodyPr/>
                    <a:lstStyle/>
                    <a:p>
                      <a:pPr defTabSz="914400"/>
                      <a:r>
                        <a:rPr b="1" sz="3200"/>
                        <a:t>Time(Mins)</a:t>
                      </a:r>
                    </a:p>
                  </a:txBody>
                  <a:tcPr marL="50800" marR="50800" marT="50800" marB="50800" anchor="ctr" anchorCtr="0" horzOverflow="overflow"/>
                </a:tc>
              </a:tr>
              <a:tr h="2081175">
                <a:tc>
                  <a:txBody>
                    <a:bodyPr/>
                    <a:lstStyle/>
                    <a:p>
                      <a:pPr defTabSz="914400"/>
                      <a:r>
                        <a:rPr b="1" sz="3200"/>
                        <a:t>Distance</a:t>
                      </a:r>
                    </a:p>
                  </a:txBody>
                  <a:tcPr marL="50800" marR="50800" marT="50800" marB="50800" anchor="ctr" anchorCtr="0" horzOverflow="overflow"/>
                </a:tc>
                <a:tc>
                  <a:txBody>
                    <a:bodyPr/>
                    <a:lstStyle/>
                    <a:p>
                      <a:pPr defTabSz="2438338">
                        <a:lnSpc>
                          <a:spcPct val="90000"/>
                        </a:lnSpc>
                        <a:spcBef>
                          <a:spcPts val="4500"/>
                        </a:spcBef>
                      </a:pPr>
                      <a:r>
                        <a:rPr sz="3200"/>
                        <a:t>25.2547059866962</a:t>
                      </a:r>
                    </a:p>
                  </a:txBody>
                  <a:tcPr marL="50800" marR="50800" marT="50800" marB="50800" anchor="ctr" anchorCtr="0" horzOverflow="overflow">
                    <a:solidFill>
                      <a:schemeClr val="accent3"/>
                    </a:solidFill>
                  </a:tcPr>
                </a:tc>
                <a:tc>
                  <a:txBody>
                    <a:bodyPr/>
                    <a:lstStyle/>
                    <a:p>
                      <a:pPr defTabSz="2438338">
                        <a:lnSpc>
                          <a:spcPct val="90000"/>
                        </a:lnSpc>
                        <a:spcBef>
                          <a:spcPts val="4500"/>
                        </a:spcBef>
                      </a:pPr>
                      <a:r>
                        <a:rPr sz="3200"/>
                        <a:t>104.695304262134</a:t>
                      </a:r>
                    </a:p>
                  </a:txBody>
                  <a:tcPr marL="50800" marR="50800" marT="50800" marB="50800" anchor="ctr" anchorCtr="0" horzOverflow="overflow"/>
                </a:tc>
                <a:tc>
                  <a:txBody>
                    <a:bodyPr/>
                    <a:lstStyle/>
                    <a:p>
                      <a:pPr defTabSz="2438338">
                        <a:lnSpc>
                          <a:spcPct val="90000"/>
                        </a:lnSpc>
                        <a:spcBef>
                          <a:spcPts val="4500"/>
                        </a:spcBef>
                      </a:pPr>
                      <a:r>
                        <a:rPr sz="3200"/>
                        <a:t>95.4416587624209</a:t>
                      </a:r>
                    </a:p>
                  </a:txBody>
                  <a:tcPr marL="50800" marR="50800" marT="50800" marB="50800" anchor="ctr" anchorCtr="0" horzOverflow="overflow"/>
                </a:tc>
              </a:tr>
              <a:tr h="2081175">
                <a:tc>
                  <a:txBody>
                    <a:bodyPr/>
                    <a:lstStyle/>
                    <a:p>
                      <a:pPr defTabSz="914400"/>
                      <a:r>
                        <a:rPr b="1" sz="3200"/>
                        <a:t>Amount </a:t>
                      </a:r>
                    </a:p>
                  </a:txBody>
                  <a:tcPr marL="50800" marR="50800" marT="50800" marB="50800" anchor="ctr" anchorCtr="0" horzOverflow="overflow"/>
                </a:tc>
                <a:tc>
                  <a:txBody>
                    <a:bodyPr/>
                    <a:lstStyle/>
                    <a:p>
                      <a:pPr defTabSz="2438338">
                        <a:lnSpc>
                          <a:spcPct val="90000"/>
                        </a:lnSpc>
                        <a:spcBef>
                          <a:spcPts val="4500"/>
                        </a:spcBef>
                      </a:pPr>
                      <a:r>
                        <a:rPr sz="3200"/>
                        <a:t>29.7025509926835</a:t>
                      </a:r>
                    </a:p>
                  </a:txBody>
                  <a:tcPr marL="50800" marR="50800" marT="50800" marB="50800" anchor="ctr" anchorCtr="0" horzOverflow="overflow"/>
                </a:tc>
                <a:tc>
                  <a:txBody>
                    <a:bodyPr/>
                    <a:lstStyle/>
                    <a:p>
                      <a:pPr defTabSz="2438338">
                        <a:lnSpc>
                          <a:spcPct val="90000"/>
                        </a:lnSpc>
                        <a:spcBef>
                          <a:spcPts val="4500"/>
                        </a:spcBef>
                      </a:pPr>
                      <a:r>
                        <a:rPr sz="3200"/>
                        <a:t>95.7079167232713</a:t>
                      </a:r>
                    </a:p>
                  </a:txBody>
                  <a:tcPr marL="50800" marR="50800" marT="50800" marB="50800" anchor="ctr" anchorCtr="0" horzOverflow="overflow">
                    <a:solidFill>
                      <a:schemeClr val="accent3"/>
                    </a:solidFill>
                  </a:tcPr>
                </a:tc>
                <a:tc>
                  <a:txBody>
                    <a:bodyPr/>
                    <a:lstStyle/>
                    <a:p>
                      <a:pPr defTabSz="2438338">
                        <a:lnSpc>
                          <a:spcPct val="90000"/>
                        </a:lnSpc>
                        <a:spcBef>
                          <a:spcPts val="4500"/>
                        </a:spcBef>
                      </a:pPr>
                      <a:r>
                        <a:rPr sz="3200"/>
                        <a:t>80.4518406207748</a:t>
                      </a:r>
                    </a:p>
                  </a:txBody>
                  <a:tcPr marL="50800" marR="50800" marT="50800" marB="50800" anchor="ctr" anchorCtr="0" horzOverflow="overflow"/>
                </a:tc>
              </a:tr>
              <a:tr h="2081175">
                <a:tc>
                  <a:txBody>
                    <a:bodyPr/>
                    <a:lstStyle/>
                    <a:p>
                      <a:pPr defTabSz="914400"/>
                      <a:r>
                        <a:rPr b="1" sz="3200"/>
                        <a:t>Time</a:t>
                      </a:r>
                    </a:p>
                  </a:txBody>
                  <a:tcPr marL="50800" marR="50800" marT="50800" marB="50800" anchor="ctr" anchorCtr="0" horzOverflow="overflow"/>
                </a:tc>
                <a:tc>
                  <a:txBody>
                    <a:bodyPr/>
                    <a:lstStyle/>
                    <a:p>
                      <a:pPr defTabSz="2438338">
                        <a:lnSpc>
                          <a:spcPct val="90000"/>
                        </a:lnSpc>
                        <a:spcBef>
                          <a:spcPts val="4500"/>
                        </a:spcBef>
                      </a:pPr>
                      <a:r>
                        <a:rPr sz="3200"/>
                        <a:t>33.9879343395965</a:t>
                      </a:r>
                    </a:p>
                  </a:txBody>
                  <a:tcPr marL="50800" marR="50800" marT="50800" marB="50800" anchor="ctr" anchorCtr="0" horzOverflow="overflow"/>
                </a:tc>
                <a:tc>
                  <a:txBody>
                    <a:bodyPr/>
                    <a:lstStyle/>
                    <a:p>
                      <a:pPr defTabSz="2438338">
                        <a:lnSpc>
                          <a:spcPct val="90000"/>
                        </a:lnSpc>
                        <a:spcBef>
                          <a:spcPts val="4500"/>
                        </a:spcBef>
                      </a:pPr>
                      <a:r>
                        <a:rPr sz="3200"/>
                        <a:t>105.401131182647</a:t>
                      </a:r>
                    </a:p>
                  </a:txBody>
                  <a:tcPr marL="50800" marR="50800" marT="50800" marB="50800" anchor="ctr" anchorCtr="0" horzOverflow="overflow"/>
                </a:tc>
                <a:tc>
                  <a:txBody>
                    <a:bodyPr/>
                    <a:lstStyle/>
                    <a:p>
                      <a:pPr defTabSz="2438338">
                        <a:lnSpc>
                          <a:spcPct val="90000"/>
                        </a:lnSpc>
                        <a:spcBef>
                          <a:spcPts val="4500"/>
                        </a:spcBef>
                      </a:pPr>
                      <a:r>
                        <a:rPr sz="3200"/>
                        <a:t>76.3562448190108</a:t>
                      </a:r>
                    </a:p>
                  </a:txBody>
                  <a:tcPr marL="50800" marR="50800" marT="50800" marB="50800" anchor="ctr" anchorCtr="0" horzOverflow="overflow">
                    <a:solidFill>
                      <a:schemeClr val="accent3"/>
                    </a:solidFill>
                  </a:tcPr>
                </a:tc>
              </a:tr>
            </a:tbl>
          </a:graphicData>
        </a:graphic>
      </p:graphicFrame>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Python Alternatives to NetworkX"/>
          <p:cNvSpPr txBox="1"/>
          <p:nvPr>
            <p:ph type="title"/>
          </p:nvPr>
        </p:nvSpPr>
        <p:spPr>
          <a:prstGeom prst="rect">
            <a:avLst/>
          </a:prstGeom>
        </p:spPr>
        <p:txBody>
          <a:bodyPr/>
          <a:lstStyle/>
          <a:p>
            <a:pPr/>
            <a:r>
              <a:t>Python Alternatives to NetworkX </a:t>
            </a:r>
          </a:p>
        </p:txBody>
      </p:sp>
      <p:sp>
        <p:nvSpPr>
          <p:cNvPr id="247" name="Slide Subtitle"/>
          <p:cNvSpPr txBox="1"/>
          <p:nvPr>
            <p:ph type="body" idx="21"/>
          </p:nvPr>
        </p:nvSpPr>
        <p:spPr>
          <a:prstGeom prst="rect">
            <a:avLst/>
          </a:prstGeom>
        </p:spPr>
        <p:txBody>
          <a:bodyPr/>
          <a:lstStyle/>
          <a:p>
            <a:pPr/>
          </a:p>
        </p:txBody>
      </p:sp>
      <p:sp>
        <p:nvSpPr>
          <p:cNvPr id="248" name="Alternatives to NetworkX: iGraph and Graph-tool both implemented in C/C++"/>
          <p:cNvSpPr txBox="1"/>
          <p:nvPr>
            <p:ph type="body" idx="1"/>
          </p:nvPr>
        </p:nvSpPr>
        <p:spPr>
          <a:xfrm>
            <a:off x="1206500" y="3631188"/>
            <a:ext cx="21971000" cy="8256011"/>
          </a:xfrm>
          <a:prstGeom prst="rect">
            <a:avLst/>
          </a:prstGeom>
        </p:spPr>
        <p:txBody>
          <a:bodyPr/>
          <a:lstStyle>
            <a:lvl1pPr marL="0" indent="0">
              <a:buSzTx/>
              <a:buNone/>
            </a:lvl1pPr>
          </a:lstStyle>
          <a:p>
            <a:pPr/>
            <a:r>
              <a:t>Alternatives to NetworkX: iGraph and Graph-tool both implemented in C/C++</a:t>
            </a:r>
          </a:p>
        </p:txBody>
      </p:sp>
      <p:sp>
        <p:nvSpPr>
          <p:cNvPr id="249" name="https://graph-tool.skewed.de/performance"/>
          <p:cNvSpPr txBox="1"/>
          <p:nvPr/>
        </p:nvSpPr>
        <p:spPr>
          <a:xfrm>
            <a:off x="610393" y="12337645"/>
            <a:ext cx="15981679" cy="4613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https://graph-tool.skewed.de/performance</a:t>
            </a:r>
          </a:p>
        </p:txBody>
      </p:sp>
      <p:pic>
        <p:nvPicPr>
          <p:cNvPr id="250" name="Image" descr="Image"/>
          <p:cNvPicPr>
            <a:picLocks noChangeAspect="1"/>
          </p:cNvPicPr>
          <p:nvPr/>
        </p:nvPicPr>
        <p:blipFill>
          <a:blip r:embed="rId2">
            <a:extLst/>
          </a:blip>
          <a:stretch>
            <a:fillRect/>
          </a:stretch>
        </p:blipFill>
        <p:spPr>
          <a:xfrm>
            <a:off x="1555588" y="4957175"/>
            <a:ext cx="21272824" cy="5971655"/>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Network Use Cases in Barclays?"/>
          <p:cNvSpPr txBox="1"/>
          <p:nvPr>
            <p:ph type="title"/>
          </p:nvPr>
        </p:nvSpPr>
        <p:spPr>
          <a:prstGeom prst="rect">
            <a:avLst/>
          </a:prstGeom>
        </p:spPr>
        <p:txBody>
          <a:bodyPr/>
          <a:lstStyle/>
          <a:p>
            <a:pPr/>
            <a:r>
              <a:t>Network Use Cases in Barclays?</a:t>
            </a:r>
          </a:p>
        </p:txBody>
      </p:sp>
      <p:sp>
        <p:nvSpPr>
          <p:cNvPr id="253" name="Slide Subtitle"/>
          <p:cNvSpPr txBox="1"/>
          <p:nvPr>
            <p:ph type="body" idx="21"/>
          </p:nvPr>
        </p:nvSpPr>
        <p:spPr>
          <a:prstGeom prst="rect">
            <a:avLst/>
          </a:prstGeom>
        </p:spPr>
        <p:txBody>
          <a:bodyPr/>
          <a:lstStyle/>
          <a:p>
            <a:pPr/>
          </a:p>
        </p:txBody>
      </p:sp>
      <p:sp>
        <p:nvSpPr>
          <p:cNvPr id="254" name="Creating a transactional network using payment data, enriching node attributes with internal (Risk rating, GCA, etc) and External (D&amp;B, ESG) datasources.…"/>
          <p:cNvSpPr txBox="1"/>
          <p:nvPr>
            <p:ph type="body" idx="1"/>
          </p:nvPr>
        </p:nvSpPr>
        <p:spPr>
          <a:xfrm>
            <a:off x="1206500" y="3631188"/>
            <a:ext cx="21971000" cy="8256011"/>
          </a:xfrm>
          <a:prstGeom prst="rect">
            <a:avLst/>
          </a:prstGeom>
        </p:spPr>
        <p:txBody>
          <a:bodyPr/>
          <a:lstStyle/>
          <a:p>
            <a:pPr marL="0" indent="0" defTabSz="1658070">
              <a:spcBef>
                <a:spcPts val="3000"/>
              </a:spcBef>
              <a:buSzTx/>
              <a:buNone/>
              <a:defRPr sz="3264"/>
            </a:pPr>
            <a:r>
              <a:t>Creating a transactional network using payment data, enriching node attributes with internal (Risk rating, GCA, etc) and External (D&amp;B, ESG) datasources. </a:t>
            </a:r>
          </a:p>
          <a:p>
            <a:pPr marL="0" indent="0" defTabSz="1658070">
              <a:spcBef>
                <a:spcPts val="3000"/>
              </a:spcBef>
              <a:buSzTx/>
              <a:buNone/>
              <a:defRPr sz="3264"/>
            </a:pPr>
          </a:p>
          <a:p>
            <a:pPr marL="0" indent="0" defTabSz="1658070">
              <a:spcBef>
                <a:spcPts val="3000"/>
              </a:spcBef>
              <a:buSzTx/>
              <a:buNone/>
              <a:defRPr sz="3264"/>
            </a:pPr>
            <a:r>
              <a:t>Use cases:</a:t>
            </a:r>
          </a:p>
          <a:p>
            <a:pPr marL="414527" indent="-414527" defTabSz="1658070">
              <a:spcBef>
                <a:spcPts val="3000"/>
              </a:spcBef>
              <a:defRPr sz="3264"/>
            </a:pPr>
            <a:r>
              <a:t>Supply Chain Analytics - Identify supply chains (Aneek’s Project)</a:t>
            </a:r>
          </a:p>
          <a:p>
            <a:pPr marL="414527" indent="-414527" defTabSz="1658070">
              <a:spcBef>
                <a:spcPts val="3000"/>
              </a:spcBef>
              <a:defRPr sz="3264"/>
            </a:pPr>
            <a:r>
              <a:t>Identify relationships between entities - e.g. Company A risk rating changed to high-risk, identify which clients might be impacted. </a:t>
            </a:r>
          </a:p>
          <a:p>
            <a:pPr marL="414527" indent="-414527" defTabSz="1658070">
              <a:spcBef>
                <a:spcPts val="3000"/>
              </a:spcBef>
              <a:defRPr sz="3264"/>
            </a:pPr>
            <a:r>
              <a:t>Clustering</a:t>
            </a:r>
          </a:p>
          <a:p>
            <a:pPr lvl="1" marL="829055" indent="-414527" defTabSz="1658070">
              <a:spcBef>
                <a:spcPts val="3000"/>
              </a:spcBef>
              <a:defRPr sz="3264"/>
            </a:pPr>
            <a:r>
              <a:t>Between graph clustering - Clustering set of graphs into clusters - identifying similar payment profile? E.g. this client has similar payment profile to another client but does not have product X, are they a good candidate for product X?</a:t>
            </a:r>
          </a:p>
          <a:p>
            <a:pPr lvl="1" marL="829055" indent="-414527" defTabSz="1658070">
              <a:spcBef>
                <a:spcPts val="3000"/>
              </a:spcBef>
              <a:defRPr sz="3264"/>
            </a:pPr>
            <a:r>
              <a:t>Within graph clustering - Clustering nodes together within a graph.</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6" name="Any questions?"/>
          <p:cNvSpPr txBox="1"/>
          <p:nvPr>
            <p:ph type="title"/>
          </p:nvPr>
        </p:nvSpPr>
        <p:spPr>
          <a:xfrm>
            <a:off x="1206500" y="6141418"/>
            <a:ext cx="21971000" cy="1433164"/>
          </a:xfrm>
          <a:prstGeom prst="rect">
            <a:avLst/>
          </a:prstGeom>
        </p:spPr>
        <p:txBody>
          <a:bodyPr/>
          <a:lstStyle/>
          <a:p>
            <a:pPr/>
            <a:r>
              <a:t>Any questions?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0_BasicColor">
  <a:themeElements>
    <a:clrScheme name="30_BasicColor">
      <a:dk1>
        <a:srgbClr val="5E5E5E"/>
      </a:dk1>
      <a:lt1>
        <a:srgbClr val="003462"/>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0_BasicColor">
      <a:majorFont>
        <a:latin typeface="Helvetica Neue"/>
        <a:ea typeface="Helvetica Neue"/>
        <a:cs typeface="Helvetica Neue"/>
      </a:majorFont>
      <a:minorFont>
        <a:latin typeface="Helvetica Neue"/>
        <a:ea typeface="Helvetica Neue"/>
        <a:cs typeface="Helvetica Neue"/>
      </a:minorFont>
    </a:fontScheme>
    <a:fmtScheme name="30_Bas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0_BasicColor">
  <a:themeElements>
    <a:clrScheme name="30_BasicColor">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0_BasicColor">
      <a:majorFont>
        <a:latin typeface="Helvetica Neue"/>
        <a:ea typeface="Helvetica Neue"/>
        <a:cs typeface="Helvetica Neue"/>
      </a:majorFont>
      <a:minorFont>
        <a:latin typeface="Helvetica Neue"/>
        <a:ea typeface="Helvetica Neue"/>
        <a:cs typeface="Helvetica Neue"/>
      </a:minorFont>
    </a:fontScheme>
    <a:fmtScheme name="30_Bas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